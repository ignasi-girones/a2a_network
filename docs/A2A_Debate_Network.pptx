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 i="0">
                <a:solidFill>
                  <a:srgbClr val="C4A67D"/>
                </a:solidFill>
                <a:latin typeface="Calibri"/>
              </a:defRPr>
            </a:pPr>
            <a:r>
              <a:t>UNIVERSITAT POLITECNICA DE CATALUNYA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6760"/>
              </a:lnSpc>
              <a:spcAft>
                <a:spcPts val="0"/>
              </a:spcAft>
              <a:defRPr sz="5200" b="1" i="0">
                <a:solidFill>
                  <a:srgbClr val="1B4F72"/>
                </a:solidFill>
                <a:latin typeface="Calibri"/>
              </a:defRPr>
            </a:pPr>
            <a:r>
              <a:t>A2A Debate Network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00"/>
              </a:lnSpc>
              <a:spcAft>
                <a:spcPts val="0"/>
              </a:spcAft>
              <a:defRPr sz="2200" b="0" i="0">
                <a:solidFill>
                  <a:srgbClr val="636E72"/>
                </a:solidFill>
                <a:latin typeface="Calibri"/>
              </a:defRPr>
            </a:pPr>
            <a:r>
              <a:t>Una red de agentes que deliberan</a:t>
            </a:r>
            <a:br/>
            <a:r>
              <a:t>usando el protocolo Agent-to-Agent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206240"/>
            <a:ext cx="1645920" cy="365760"/>
          </a:xfrm>
          <a:prstGeom prst="roundRect">
            <a:avLst/>
          </a:prstGeom>
          <a:solidFill>
            <a:srgbClr val="B8D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>
              <a:defRPr sz="1200" b="1">
                <a:solidFill>
                  <a:srgbClr val="1B4F72"/>
                </a:solidFill>
                <a:latin typeface="Calibri"/>
              </a:defRPr>
            </a:pPr>
            <a:r>
              <a:t>A2A Protocol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4206240"/>
            <a:ext cx="1645920" cy="365760"/>
          </a:xfrm>
          <a:prstGeom prst="roundRect">
            <a:avLst/>
          </a:prstGeom>
          <a:solidFill>
            <a:srgbClr val="E3D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>
              <a:defRPr sz="1200" b="1">
                <a:solidFill>
                  <a:srgbClr val="2D3436"/>
                </a:solidFill>
                <a:latin typeface="Calibri"/>
              </a:defRPr>
            </a:pPr>
            <a:r>
              <a:t>Multi-Agent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4206240"/>
            <a:ext cx="1645920" cy="365760"/>
          </a:xfrm>
          <a:prstGeom prst="roundRect">
            <a:avLst/>
          </a:prstGeom>
          <a:solidFill>
            <a:srgbClr val="B8D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>
              <a:defRPr sz="1200" b="1">
                <a:solidFill>
                  <a:srgbClr val="1B4F72"/>
                </a:solidFill>
                <a:latin typeface="Calibri"/>
              </a:defRPr>
            </a:pPr>
            <a:r>
              <a:t>LLM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206240"/>
            <a:ext cx="1645920" cy="365760"/>
          </a:xfrm>
          <a:prstGeom prst="roundRect">
            <a:avLst/>
          </a:prstGeom>
          <a:solidFill>
            <a:srgbClr val="E3D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>
              <a:defRPr sz="1200" b="1">
                <a:solidFill>
                  <a:srgbClr val="2D3436"/>
                </a:solidFill>
                <a:latin typeface="Calibri"/>
              </a:defRPr>
            </a:pPr>
            <a:r>
              <a:t>Consensus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669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 i="0">
                <a:solidFill>
                  <a:srgbClr val="636E72"/>
                </a:solidFill>
                <a:latin typeface="Calibri"/>
              </a:defRPr>
            </a:pPr>
            <a:r>
              <a:t>Irina Regueiro  · 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4F7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200"/>
              </a:lnSpc>
              <a:spcAft>
                <a:spcPts val="0"/>
              </a:spcAft>
              <a:defRPr sz="4000" b="1" i="0">
                <a:solidFill>
                  <a:srgbClr val="F2E8D5"/>
                </a:solidFill>
                <a:latin typeface="Calibri"/>
              </a:defRPr>
            </a:pPr>
            <a:r>
              <a:t>Una pregunta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56032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800"/>
              </a:lnSpc>
              <a:spcAft>
                <a:spcPts val="0"/>
              </a:spcAft>
              <a:defRPr sz="3200" b="0" i="0">
                <a:solidFill>
                  <a:srgbClr val="FFFFFF"/>
                </a:solidFill>
                <a:latin typeface="Calibri"/>
              </a:defRPr>
            </a:pPr>
            <a:r>
              <a:t>¿Es mejor trabajar en remoto</a:t>
            </a:r>
            <a:br/>
            <a:r>
              <a:t>o de manera presencial?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5720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Aft>
                <a:spcPts val="0"/>
              </a:spcAft>
              <a:defRPr sz="1800" b="0" i="0">
                <a:solidFill>
                  <a:srgbClr val="B8D8EA"/>
                </a:solidFill>
                <a:latin typeface="Calibri"/>
              </a:defRPr>
            </a:pPr>
            <a:r>
              <a:t>Vamos a dejar que una red de agentes inteligentes debata esta cuestión.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669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0" i="1">
                <a:solidFill>
                  <a:srgbClr val="7BAFCF"/>
                </a:solidFill>
                <a:latin typeface="Calibri"/>
              </a:defRPr>
            </a:pPr>
            <a:r>
              <a:t>Personalizar con la pregunta del debate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60"/>
              </a:lnSpc>
              <a:spcAft>
                <a:spcPts val="0"/>
              </a:spcAft>
              <a:defRPr sz="3200" b="1" i="0">
                <a:solidFill>
                  <a:srgbClr val="1B4F72"/>
                </a:solidFill>
                <a:latin typeface="Calibri"/>
              </a:defRPr>
            </a:pPr>
            <a:r>
              <a:t>¿Qué es el protocolo A2A?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280160"/>
            <a:ext cx="10332720" cy="914400"/>
          </a:xfrm>
          <a:prstGeom prst="roundRect">
            <a:avLst/>
          </a:prstGeom>
          <a:solidFill>
            <a:srgbClr val="E8F4FA"/>
          </a:solidFill>
          <a:ln w="12700">
            <a:solidFill>
              <a:srgbClr val="B8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371600"/>
            <a:ext cx="9784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00"/>
              </a:lnSpc>
            </a:pPr>
            <a:r>
              <a:rPr sz="1900" b="0" i="0">
                <a:solidFill>
                  <a:srgbClr val="2D3436"/>
                </a:solidFill>
                <a:latin typeface="Calibri"/>
              </a:rPr>
              <a:t>Un </a:t>
            </a:r>
            <a:r>
              <a:rPr sz="1900" b="1" i="0">
                <a:solidFill>
                  <a:srgbClr val="2C6F9B"/>
                </a:solidFill>
                <a:latin typeface="Calibri"/>
              </a:rPr>
              <a:t>estándar abierto</a:t>
            </a:r>
            <a:r>
              <a:rPr sz="1900" b="0" i="0">
                <a:solidFill>
                  <a:srgbClr val="2D3436"/>
                </a:solidFill>
                <a:latin typeface="Calibri"/>
              </a:rPr>
              <a:t> de Google que permite a agentes de IA </a:t>
            </a:r>
            <a:r>
              <a:rPr sz="1900" b="1" i="0">
                <a:solidFill>
                  <a:srgbClr val="2C6F9B"/>
                </a:solidFill>
                <a:latin typeface="Calibri"/>
              </a:rPr>
              <a:t>descubrirse</a:t>
            </a:r>
            <a:r>
              <a:rPr sz="1900" b="0" i="0">
                <a:solidFill>
                  <a:srgbClr val="2D3436"/>
                </a:solidFill>
                <a:latin typeface="Calibri"/>
              </a:rPr>
              <a:t>, </a:t>
            </a:r>
            <a:r>
              <a:rPr sz="1900" b="1" i="0">
                <a:solidFill>
                  <a:srgbClr val="2C6F9B"/>
                </a:solidFill>
                <a:latin typeface="Calibri"/>
              </a:rPr>
              <a:t>comunicarse</a:t>
            </a:r>
            <a:r>
              <a:rPr sz="1900" b="0" i="0">
                <a:solidFill>
                  <a:srgbClr val="2D3436"/>
                </a:solidFill>
                <a:latin typeface="Calibri"/>
              </a:rPr>
              <a:t> y </a:t>
            </a:r>
            <a:r>
              <a:rPr sz="1900" b="1" i="0">
                <a:solidFill>
                  <a:srgbClr val="2C6F9B"/>
                </a:solidFill>
                <a:latin typeface="Calibri"/>
              </a:rPr>
              <a:t>colaborar</a:t>
            </a:r>
            <a:r>
              <a:rPr sz="1900" b="0" i="0">
                <a:solidFill>
                  <a:srgbClr val="2D3436"/>
                </a:solidFill>
                <a:latin typeface="Calibri"/>
              </a:rPr>
              <a:t> entre sí, independientemente de quién los haya creado.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743200"/>
            <a:ext cx="320040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30175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Aft>
                <a:spcPts val="0"/>
              </a:spcAft>
              <a:defRPr sz="2000" b="1" i="0">
                <a:solidFill>
                  <a:srgbClr val="2C6F9B"/>
                </a:solidFill>
                <a:latin typeface="Calibri"/>
              </a:defRPr>
            </a:pPr>
            <a:r>
              <a:t>Abierto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566160"/>
            <a:ext cx="2651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Aft>
                <a:spcPts val="0"/>
              </a:spcAft>
              <a:defRPr sz="1500" b="0" i="0">
                <a:solidFill>
                  <a:srgbClr val="2D3436"/>
                </a:solidFill>
                <a:latin typeface="Calibri"/>
              </a:defRPr>
            </a:pPr>
            <a:r>
              <a:t>Cualquier framework,</a:t>
            </a:r>
            <a:br/>
            <a:r>
              <a:t>cualquier lenguaje,</a:t>
            </a:r>
            <a:br/>
            <a:r>
              <a:t>cualquier proveedor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2743200"/>
            <a:ext cx="320040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30175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Aft>
                <a:spcPts val="0"/>
              </a:spcAft>
              <a:defRPr sz="2000" b="1" i="0">
                <a:solidFill>
                  <a:srgbClr val="2C6F9B"/>
                </a:solidFill>
                <a:latin typeface="Calibri"/>
              </a:defRPr>
            </a:pPr>
            <a:r>
              <a:t>Interoperable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3566160"/>
            <a:ext cx="2651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Aft>
                <a:spcPts val="0"/>
              </a:spcAft>
              <a:defRPr sz="1500" b="0" i="0">
                <a:solidFill>
                  <a:srgbClr val="2D3436"/>
                </a:solidFill>
                <a:latin typeface="Calibri"/>
              </a:defRPr>
            </a:pPr>
            <a:r>
              <a:t>Agentes de distintos</a:t>
            </a:r>
            <a:br/>
            <a:r>
              <a:t>equipos colaboran</a:t>
            </a:r>
            <a:br/>
            <a:r>
              <a:t>sin adaptadores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743200"/>
            <a:ext cx="320040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30175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Aft>
                <a:spcPts val="0"/>
              </a:spcAft>
              <a:defRPr sz="2000" b="1" i="0">
                <a:solidFill>
                  <a:srgbClr val="2C6F9B"/>
                </a:solidFill>
                <a:latin typeface="Calibri"/>
              </a:defRPr>
            </a:pPr>
            <a:r>
              <a:t>Descubrible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3566160"/>
            <a:ext cx="2651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Aft>
                <a:spcPts val="0"/>
              </a:spcAft>
              <a:defRPr sz="1500" b="0" i="0">
                <a:solidFill>
                  <a:srgbClr val="2D3436"/>
                </a:solidFill>
                <a:latin typeface="Calibri"/>
              </a:defRPr>
            </a:pPr>
            <a:r>
              <a:t>Los agentes publican sus</a:t>
            </a:r>
            <a:br/>
            <a:r>
              <a:t>capacidades y se</a:t>
            </a:r>
            <a:br/>
            <a:r>
              <a:t>encuentran solos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60"/>
              </a:lnSpc>
              <a:spcAft>
                <a:spcPts val="0"/>
              </a:spcAft>
              <a:defRPr sz="3200" b="1" i="0">
                <a:solidFill>
                  <a:srgbClr val="1B4F72"/>
                </a:solidFill>
                <a:latin typeface="Calibri"/>
              </a:defRPr>
            </a:pPr>
            <a:r>
              <a:t>Agent Card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10"/>
              </a:lnSpc>
              <a:spcAft>
                <a:spcPts val="0"/>
              </a:spcAft>
              <a:defRPr sz="1700" b="0" i="0">
                <a:solidFill>
                  <a:srgbClr val="636E72"/>
                </a:solidFill>
                <a:latin typeface="Calibri"/>
              </a:defRPr>
            </a:pPr>
            <a:r>
              <a:t>La identidad pública de cada agente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029200" cy="4572000"/>
          </a:xfrm>
          <a:prstGeom prst="round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9164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0" i="0">
                <a:solidFill>
                  <a:srgbClr val="E8F4FA"/>
                </a:solidFill>
                <a:latin typeface="Consolas"/>
              </a:defRPr>
            </a:pPr>
            <a:r>
              <a:t>{</a:t>
            </a:r>
            <a:br/>
            <a:r>
              <a:t>  "name": "Specialized Agent (AE1)",</a:t>
            </a:r>
            <a:br/>
            <a:r>
              <a:t>  "version": "1.0.0",</a:t>
            </a:r>
            <a:br/>
            <a:r>
              <a:t>  "capabilities": {</a:t>
            </a:r>
            <a:br/>
            <a:r>
              <a:t>    "streaming": true</a:t>
            </a:r>
            <a:br/>
            <a:r>
              <a:t>  },</a:t>
            </a:r>
            <a:br/>
            <a:r>
              <a:t>  "skills": [{</a:t>
            </a:r>
            <a:br/>
            <a:r>
              <a:t>    "id": "debate",</a:t>
            </a:r>
            <a:br/>
            <a:r>
              <a:t>    "name": "Debate",</a:t>
            </a:r>
            <a:br/>
            <a:r>
              <a:t>    "description": "Argues a topic</a:t>
            </a:r>
            <a:br/>
            <a:r>
              <a:t>      from an assigned role...",</a:t>
            </a:r>
            <a:br/>
            <a:r>
              <a:t>    "tags": ["deliberative",</a:t>
            </a:r>
            <a:br/>
            <a:r>
              <a:t>             "multi-agent"]</a:t>
            </a:r>
            <a:br/>
            <a:r>
              <a:t>  }]</a:t>
            </a:r>
            <a:br/>
            <a:r>
              <a:t>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0292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64208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Aft>
                <a:spcPts val="0"/>
              </a:spcAft>
              <a:defRPr sz="1800" b="1" i="0">
                <a:solidFill>
                  <a:srgbClr val="2C6F9B"/>
                </a:solidFill>
                <a:latin typeface="Calibri"/>
              </a:defRPr>
            </a:pPr>
            <a:r>
              <a:t>Metadata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0" i="0">
                <a:solidFill>
                  <a:srgbClr val="2D3436"/>
                </a:solidFill>
                <a:latin typeface="Calibri"/>
              </a:defRPr>
            </a:pPr>
            <a:r>
              <a:t>Nombre, versión, proveedor, URL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971800"/>
            <a:ext cx="50292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3081528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Aft>
                <a:spcPts val="0"/>
              </a:spcAft>
              <a:defRPr sz="1800" b="1" i="0">
                <a:solidFill>
                  <a:srgbClr val="2C6F9B"/>
                </a:solidFill>
                <a:latin typeface="Calibri"/>
              </a:defRPr>
            </a:pPr>
            <a:r>
              <a:t>Capabilities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42900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0" i="0">
                <a:solidFill>
                  <a:srgbClr val="2D3436"/>
                </a:solidFill>
                <a:latin typeface="Calibri"/>
              </a:defRPr>
            </a:pPr>
            <a:r>
              <a:t>Streaming, push notifications,</a:t>
            </a:r>
            <a:br/>
            <a:r>
              <a:t>modo de input/output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389120"/>
            <a:ext cx="50292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4498848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Aft>
                <a:spcPts val="0"/>
              </a:spcAft>
              <a:defRPr sz="1800" b="1" i="0">
                <a:solidFill>
                  <a:srgbClr val="2C6F9B"/>
                </a:solidFill>
                <a:latin typeface="Calibri"/>
              </a:defRPr>
            </a:pPr>
            <a:r>
              <a:t>Skills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84632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0" i="0">
                <a:solidFill>
                  <a:srgbClr val="2D3436"/>
                </a:solidFill>
                <a:latin typeface="Calibri"/>
              </a:defRPr>
            </a:pPr>
            <a:r>
              <a:t>Qué sabe hacer, cuándo usarlo,</a:t>
            </a:r>
            <a:br/>
            <a:r>
              <a:t>qué formato espera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309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200" b="0" i="0">
                <a:solidFill>
                  <a:srgbClr val="636E72"/>
                </a:solidFill>
                <a:latin typeface="Calibri"/>
              </a:defRPr>
            </a:pPr>
            <a:r>
              <a:t>Servida en /.well-known/agent-card.json — el punto de entrada del descubrimiento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60"/>
              </a:lnSpc>
              <a:spcAft>
                <a:spcPts val="0"/>
              </a:spcAft>
              <a:defRPr sz="3200" b="1" i="0">
                <a:solidFill>
                  <a:srgbClr val="1B4F72"/>
                </a:solidFill>
                <a:latin typeface="Calibri"/>
              </a:defRPr>
            </a:pPr>
            <a:r>
              <a:t>Agent Discovery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10"/>
              </a:lnSpc>
              <a:spcAft>
                <a:spcPts val="0"/>
              </a:spcAft>
              <a:defRPr sz="1700" b="0" i="0">
                <a:solidFill>
                  <a:srgbClr val="636E72"/>
                </a:solidFill>
                <a:latin typeface="Calibri"/>
              </a:defRPr>
            </a:pPr>
            <a:r>
              <a:t>Los agentes se encuentran y se registran automáticamente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2926080" cy="914400"/>
          </a:xfrm>
          <a:prstGeom prst="roundRect">
            <a:avLst/>
          </a:prstGeom>
          <a:solidFill>
            <a:srgbClr val="B8D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>
              <a:defRPr sz="1600" b="1">
                <a:solidFill>
                  <a:srgbClr val="1B4F72"/>
                </a:solidFill>
                <a:latin typeface="Calibri"/>
              </a:defRPr>
            </a:pPr>
            <a:r>
              <a:t>Agente se inicia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31920" y="196596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900"/>
              </a:lnSpc>
              <a:spcAft>
                <a:spcPts val="0"/>
              </a:spcAft>
              <a:defRPr sz="3000" b="0" i="0">
                <a:solidFill>
                  <a:srgbClr val="5196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1828800"/>
            <a:ext cx="2926080" cy="914400"/>
          </a:xfrm>
          <a:prstGeom prst="roundRect">
            <a:avLst/>
          </a:prstGeom>
          <a:solidFill>
            <a:srgbClr val="E3D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>
              <a:defRPr sz="1600" b="1">
                <a:solidFill>
                  <a:srgbClr val="2D3436"/>
                </a:solidFill>
                <a:latin typeface="Calibri"/>
              </a:defRPr>
            </a:pPr>
            <a:r>
              <a:t>Publica Agent Card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96596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900"/>
              </a:lnSpc>
              <a:spcAft>
                <a:spcPts val="0"/>
              </a:spcAft>
              <a:defRPr sz="3000" b="0" i="0">
                <a:solidFill>
                  <a:srgbClr val="5196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95360" y="1828800"/>
            <a:ext cx="2926080" cy="914400"/>
          </a:xfrm>
          <a:prstGeom prst="roundRect">
            <a:avLst/>
          </a:prstGeom>
          <a:solidFill>
            <a:srgbClr val="B8D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>
              <a:defRPr sz="1600" b="1">
                <a:solidFill>
                  <a:srgbClr val="1B4F72"/>
                </a:solidFill>
                <a:latin typeface="Calibri"/>
              </a:defRPr>
            </a:pPr>
            <a:r>
              <a:t>Se registra en</a:t>
            </a:r>
            <a:br/>
            <a:r>
              <a:t>el Orquestador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474720"/>
            <a:ext cx="29260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>
              <a:defRPr sz="1600" b="1">
                <a:solidFill>
                  <a:srgbClr val="2D3436"/>
                </a:solidFill>
                <a:latin typeface="Calibri"/>
              </a:defRPr>
            </a:pPr>
            <a:r>
              <a:t>Orquestador</a:t>
            </a:r>
            <a:br/>
            <a:r>
              <a:t>consulta Registry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61188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900"/>
              </a:lnSpc>
              <a:spcAft>
                <a:spcPts val="0"/>
              </a:spcAft>
              <a:defRPr sz="3000" b="0" i="0">
                <a:solidFill>
                  <a:srgbClr val="5196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3474720"/>
            <a:ext cx="2926080" cy="914400"/>
          </a:xfrm>
          <a:prstGeom prst="roundRect">
            <a:avLst/>
          </a:prstGeom>
          <a:solidFill>
            <a:srgbClr val="E3D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>
              <a:defRPr sz="1600" b="1">
                <a:solidFill>
                  <a:srgbClr val="2D3436"/>
                </a:solidFill>
                <a:latin typeface="Calibri"/>
              </a:defRPr>
            </a:pPr>
            <a:r>
              <a:t>Lee skills de</a:t>
            </a:r>
            <a:br/>
            <a:r>
              <a:t>cada agente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361188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900"/>
              </a:lnSpc>
              <a:spcAft>
                <a:spcPts val="0"/>
              </a:spcAft>
              <a:defRPr sz="3000" b="0" i="0">
                <a:solidFill>
                  <a:srgbClr val="5196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5360" y="3474720"/>
            <a:ext cx="2926080" cy="914400"/>
          </a:xfrm>
          <a:prstGeom prst="roundRect">
            <a:avLst/>
          </a:prstGeom>
          <a:solidFill>
            <a:srgbClr val="B8D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>
              <a:defRPr sz="1600" b="1">
                <a:solidFill>
                  <a:srgbClr val="1B4F72"/>
                </a:solidFill>
                <a:latin typeface="Calibri"/>
              </a:defRPr>
            </a:pPr>
            <a:r>
              <a:t>Planifica</a:t>
            </a:r>
            <a:br/>
            <a:r>
              <a:t>el debate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86000" y="5029200"/>
            <a:ext cx="75895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60320" y="5166360"/>
            <a:ext cx="7040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00"/>
              </a:lnSpc>
            </a:pPr>
            <a:r>
              <a:rPr sz="1700" b="0" i="0">
                <a:solidFill>
                  <a:srgbClr val="2D3436"/>
                </a:solidFill>
                <a:latin typeface="Calibri"/>
              </a:rPr>
              <a:t>El orquestador </a:t>
            </a:r>
            <a:r>
              <a:rPr sz="1700" b="1" i="0">
                <a:solidFill>
                  <a:srgbClr val="2C6F9B"/>
                </a:solidFill>
                <a:latin typeface="Calibri"/>
              </a:rPr>
              <a:t>no sabe de antemano</a:t>
            </a:r>
            <a:r>
              <a:rPr sz="1700" b="0" i="0">
                <a:solidFill>
                  <a:srgbClr val="2D3436"/>
                </a:solidFill>
                <a:latin typeface="Calibri"/>
              </a:rPr>
              <a:t> qué agentes existen.
Lee sus skills y decide cómo usarlos.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60"/>
              </a:lnSpc>
              <a:spcAft>
                <a:spcPts val="0"/>
              </a:spcAft>
              <a:defRPr sz="3200" b="1" i="0">
                <a:solidFill>
                  <a:srgbClr val="1B4F72"/>
                </a:solidFill>
                <a:latin typeface="Calibri"/>
              </a:defRPr>
            </a:pPr>
            <a:r>
              <a:t>Comunicación A2A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50292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89888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Aft>
                <a:spcPts val="0"/>
              </a:spcAft>
              <a:defRPr sz="2000" b="1" i="0">
                <a:solidFill>
                  <a:srgbClr val="2C6F9B"/>
                </a:solidFill>
                <a:latin typeface="Calibri"/>
              </a:defRPr>
            </a:pPr>
            <a:r>
              <a:t>JSON-RPC 2.0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0" i="0">
                <a:solidFill>
                  <a:srgbClr val="2D3436"/>
                </a:solidFill>
                <a:latin typeface="Calibri"/>
              </a:defRPr>
            </a:pPr>
            <a:r>
              <a:t>Protocolo de transporte estándar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9339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0" i="0">
                <a:solidFill>
                  <a:srgbClr val="2D3436"/>
                </a:solidFill>
                <a:latin typeface="Calibri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914400" y="2249424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0" i="0">
                <a:solidFill>
                  <a:srgbClr val="2D3436"/>
                </a:solidFill>
                <a:latin typeface="Calibri"/>
              </a:defRPr>
            </a:pPr>
            <a:r>
              <a:t>· SendMessage — síncrono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05456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0" i="0">
                <a:solidFill>
                  <a:srgbClr val="2D3436"/>
                </a:solidFill>
                <a:latin typeface="Calibri"/>
              </a:defRPr>
            </a:pPr>
            <a:r>
              <a:t>· SendStreamingMessage — SSE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280160"/>
            <a:ext cx="50292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389888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Aft>
                <a:spcPts val="0"/>
              </a:spcAft>
              <a:defRPr sz="2000" b="1" i="0">
                <a:solidFill>
                  <a:srgbClr val="2C6F9B"/>
                </a:solidFill>
                <a:latin typeface="Calibri"/>
              </a:defRPr>
            </a:pPr>
            <a:r>
              <a:t>Task Lifecycle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73736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0" i="0">
                <a:solidFill>
                  <a:srgbClr val="2D3436"/>
                </a:solidFill>
                <a:latin typeface="Calibri"/>
              </a:defRPr>
            </a:pPr>
            <a:r>
              <a:t>Cada petición crea un Task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99339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0" i="0">
                <a:solidFill>
                  <a:srgbClr val="2D3436"/>
                </a:solidFill>
                <a:latin typeface="Calibri"/>
              </a:defRPr>
            </a:pPr>
            <a:r>
              <a:t>con estados: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249424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0" i="0">
                <a:solidFill>
                  <a:srgbClr val="2D3436"/>
                </a:solidFill>
                <a:latin typeface="Calibri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6583680" y="2505456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0" i="0">
                <a:solidFill>
                  <a:srgbClr val="2D3436"/>
                </a:solidFill>
                <a:latin typeface="Calibri"/>
              </a:defRPr>
            </a:pPr>
            <a:r>
              <a:t>submitted → working → completed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28800" y="4114800"/>
            <a:ext cx="85039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03120" y="4297680"/>
            <a:ext cx="79552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00"/>
              </a:lnSpc>
            </a:pPr>
            <a:r>
              <a:rPr sz="1700" b="0" i="0">
                <a:solidFill>
                  <a:srgbClr val="2D3436"/>
                </a:solidFill>
                <a:latin typeface="Calibri"/>
              </a:rPr>
              <a:t>El orquestador usa </a:t>
            </a:r>
            <a:r>
              <a:rPr sz="1700" b="1" i="0">
                <a:solidFill>
                  <a:srgbClr val="2C6F9B"/>
                </a:solidFill>
                <a:latin typeface="Calibri"/>
              </a:rPr>
              <a:t>streaming</a:t>
            </a:r>
            <a:r>
              <a:rPr sz="1700" b="0" i="0">
                <a:solidFill>
                  <a:srgbClr val="2D3436"/>
                </a:solidFill>
                <a:latin typeface="Calibri"/>
              </a:rPr>
              <a:t> hacia el frontend (progreso en tiempo real)
y llamadas </a:t>
            </a:r>
            <a:r>
              <a:rPr sz="1700" b="1" i="0">
                <a:solidFill>
                  <a:srgbClr val="2C6F9B"/>
                </a:solidFill>
                <a:latin typeface="Calibri"/>
              </a:rPr>
              <a:t>síncronas</a:t>
            </a:r>
            <a:r>
              <a:rPr sz="1700" b="0" i="0">
                <a:solidFill>
                  <a:srgbClr val="2D3436"/>
                </a:solidFill>
                <a:latin typeface="Calibri"/>
              </a:rPr>
              <a:t> a los workers (espera respuesta completa).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8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60"/>
              </a:lnSpc>
              <a:spcAft>
                <a:spcPts val="0"/>
              </a:spcAft>
              <a:defRPr sz="3200" b="1" i="0">
                <a:solidFill>
                  <a:srgbClr val="1B4F72"/>
                </a:solidFill>
                <a:latin typeface="Calibri"/>
              </a:defRPr>
            </a:pPr>
            <a:r>
              <a:t>Nuestro caso de uso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000"/>
              </a:lnSpc>
            </a:pPr>
            <a:r>
              <a:rPr sz="2000" b="0" i="0">
                <a:solidFill>
                  <a:srgbClr val="2D3436"/>
                </a:solidFill>
                <a:latin typeface="Calibri"/>
              </a:rPr>
              <a:t>Una </a:t>
            </a:r>
            <a:r>
              <a:rPr sz="2000" b="1" i="0">
                <a:solidFill>
                  <a:srgbClr val="2C6F9B"/>
                </a:solidFill>
                <a:latin typeface="Calibri"/>
              </a:rPr>
              <a:t>deliberación multi-agente</a:t>
            </a:r>
            <a:r>
              <a:rPr sz="2000" b="0" i="0">
                <a:solidFill>
                  <a:srgbClr val="2D3436"/>
                </a:solidFill>
                <a:latin typeface="Calibri"/>
              </a:rPr>
              <a:t> donde agentes con distintos roles debaten un tema y buscan consenso.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502920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12848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Aft>
                <a:spcPts val="0"/>
              </a:spcAft>
              <a:defRPr sz="2000" b="1" i="0">
                <a:solidFill>
                  <a:srgbClr val="2C6F9B"/>
                </a:solidFill>
                <a:latin typeface="Calibri"/>
              </a:defRPr>
            </a:pPr>
            <a:r>
              <a:t>¿Por qué debates?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0" i="0">
                <a:solidFill>
                  <a:srgbClr val="2D3436"/>
                </a:solidFill>
                <a:latin typeface="Calibri"/>
              </a:defRPr>
            </a:pPr>
            <a:r>
              <a:t>· Explota la naturaleza distribuida de A2A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1635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0" i="0">
                <a:solidFill>
                  <a:srgbClr val="2D3436"/>
                </a:solidFill>
                <a:latin typeface="Calibr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914400" y="3072384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0" i="0">
                <a:solidFill>
                  <a:srgbClr val="2D3436"/>
                </a:solidFill>
                <a:latin typeface="Calibri"/>
              </a:defRPr>
            </a:pPr>
            <a:r>
              <a:t>· Cada agente es independiente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28416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0" i="0">
                <a:solidFill>
                  <a:srgbClr val="2D3436"/>
                </a:solidFill>
                <a:latin typeface="Calibri"/>
              </a:defRPr>
            </a:pPr>
            <a:r>
              <a:t>  con su propio LLM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8444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0" i="0">
                <a:solidFill>
                  <a:srgbClr val="2D3436"/>
                </a:solidFill>
                <a:latin typeface="Calibri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914400" y="384048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0" i="0">
                <a:solidFill>
                  <a:srgbClr val="2D3436"/>
                </a:solidFill>
                <a:latin typeface="Calibri"/>
              </a:defRPr>
            </a:pPr>
            <a:r>
              <a:t>· El consenso emerge de 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09651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0" i="0">
                <a:solidFill>
                  <a:srgbClr val="2D3436"/>
                </a:solidFill>
                <a:latin typeface="Calibri"/>
              </a:defRPr>
            </a:pPr>
            <a:r>
              <a:t>  interacción, no de un solo modelo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103120"/>
            <a:ext cx="502920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2212848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Aft>
                <a:spcPts val="0"/>
              </a:spcAft>
              <a:defRPr sz="2000" b="1" i="0">
                <a:solidFill>
                  <a:srgbClr val="2C6F9B"/>
                </a:solidFill>
                <a:latin typeface="Calibri"/>
              </a:defRPr>
            </a:pPr>
            <a:r>
              <a:t>¿Qué lo hace interesante?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56032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0" i="0">
                <a:solidFill>
                  <a:srgbClr val="2D3436"/>
                </a:solidFill>
                <a:latin typeface="Calibri"/>
              </a:defRPr>
            </a:pPr>
            <a:r>
              <a:t>· Distintos modelos =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81635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0" i="0">
                <a:solidFill>
                  <a:srgbClr val="2D3436"/>
                </a:solidFill>
                <a:latin typeface="Calibri"/>
              </a:defRPr>
            </a:pPr>
            <a:r>
              <a:t>  distintas perspectivas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072384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0" i="0">
                <a:solidFill>
                  <a:srgbClr val="2D3436"/>
                </a:solidFill>
                <a:latin typeface="Calibri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6583680" y="3328416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0" i="0">
                <a:solidFill>
                  <a:srgbClr val="2D3436"/>
                </a:solidFill>
                <a:latin typeface="Calibri"/>
              </a:defRPr>
            </a:pPr>
            <a:r>
              <a:t>· El orquestador no sabe la respuesta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58444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0" i="0">
                <a:solidFill>
                  <a:srgbClr val="2D3436"/>
                </a:solidFill>
                <a:latin typeface="Calibri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6583680" y="384048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0" i="0">
                <a:solidFill>
                  <a:srgbClr val="2D3436"/>
                </a:solidFill>
                <a:latin typeface="Calibri"/>
              </a:defRPr>
            </a:pPr>
            <a:r>
              <a:t>· Agentes externos pueden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09651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0" i="0">
                <a:solidFill>
                  <a:srgbClr val="2D3436"/>
                </a:solidFill>
                <a:latin typeface="Calibri"/>
              </a:defRPr>
            </a:pPr>
            <a:r>
              <a:t>  unirse en vivo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60"/>
              </a:lnSpc>
              <a:spcAft>
                <a:spcPts val="0"/>
              </a:spcAft>
              <a:defRPr sz="3200" b="1" i="0">
                <a:solidFill>
                  <a:srgbClr val="1B4F72"/>
                </a:solidFill>
                <a:latin typeface="Calibri"/>
              </a:defRPr>
            </a:pPr>
            <a:r>
              <a:t>Arquitectura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280160"/>
            <a:ext cx="9418320" cy="914400"/>
          </a:xfrm>
          <a:prstGeom prst="roundRect">
            <a:avLst/>
          </a:prstGeom>
          <a:solidFill>
            <a:srgbClr val="E8F4FA"/>
          </a:solidFill>
          <a:ln w="12700">
            <a:solidFill>
              <a:srgbClr val="B8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>
              <a:defRPr sz="1700" b="1">
                <a:solidFill>
                  <a:srgbClr val="1B4F72"/>
                </a:solidFill>
                <a:latin typeface="Calibri"/>
              </a:defRPr>
            </a:pPr>
            <a:r>
              <a:t>Orquestador  —  Gemini 2.5 Flash  —  planifica, coordina, evalúa consenso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651760"/>
            <a:ext cx="25603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8346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40"/>
              </a:lnSpc>
              <a:spcAft>
                <a:spcPts val="0"/>
              </a:spcAft>
              <a:defRPr sz="1800" b="1" i="0">
                <a:solidFill>
                  <a:srgbClr val="2C6F9B"/>
                </a:solidFill>
                <a:latin typeface="Calibri"/>
              </a:defRPr>
            </a:pPr>
            <a:r>
              <a:t>Normalizer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2461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200" b="0" i="0">
                <a:solidFill>
                  <a:srgbClr val="636E72"/>
                </a:solidFill>
                <a:latin typeface="Calibri"/>
              </a:defRPr>
            </a:pPr>
            <a:r>
              <a:t>Gemini Flash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54480" y="3657600"/>
            <a:ext cx="1280160" cy="320040"/>
          </a:xfrm>
          <a:prstGeom prst="roundRect">
            <a:avLst/>
          </a:prstGeom>
          <a:solidFill>
            <a:srgbClr val="E3D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>
              <a:defRPr sz="1100" b="1">
                <a:solidFill>
                  <a:srgbClr val="2D3436"/>
                </a:solidFill>
                <a:latin typeface="Calibri"/>
              </a:defRPr>
            </a:pPr>
            <a:r>
              <a:t>preproceso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49040" y="2651760"/>
            <a:ext cx="25603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28346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40"/>
              </a:lnSpc>
              <a:spcAft>
                <a:spcPts val="0"/>
              </a:spcAft>
              <a:defRPr sz="1800" b="1" i="0">
                <a:solidFill>
                  <a:srgbClr val="2C6F9B"/>
                </a:solidFill>
                <a:latin typeface="Calibri"/>
              </a:defRPr>
            </a:pPr>
            <a:r>
              <a:t>AE1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2461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200" b="0" i="0">
                <a:solidFill>
                  <a:srgbClr val="636E72"/>
                </a:solidFill>
                <a:latin typeface="Calibri"/>
              </a:defRPr>
            </a:pPr>
            <a:r>
              <a:t>Mistral Large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3657600"/>
            <a:ext cx="1280160" cy="320040"/>
          </a:xfrm>
          <a:prstGeom prst="roundRect">
            <a:avLst/>
          </a:prstGeom>
          <a:solidFill>
            <a:srgbClr val="B8D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>
              <a:defRPr sz="1100" b="1">
                <a:solidFill>
                  <a:srgbClr val="1B4F72"/>
                </a:solidFill>
                <a:latin typeface="Calibri"/>
              </a:defRPr>
            </a:pPr>
            <a:r>
              <a:t>debate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2651760"/>
            <a:ext cx="25603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28346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40"/>
              </a:lnSpc>
              <a:spcAft>
                <a:spcPts val="0"/>
              </a:spcAft>
              <a:defRPr sz="1800" b="1" i="0">
                <a:solidFill>
                  <a:srgbClr val="2C6F9B"/>
                </a:solidFill>
                <a:latin typeface="Calibri"/>
              </a:defRPr>
            </a:pPr>
            <a:r>
              <a:t>AE2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32461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200" b="0" i="0">
                <a:solidFill>
                  <a:srgbClr val="636E72"/>
                </a:solidFill>
                <a:latin typeface="Calibri"/>
              </a:defRPr>
            </a:pPr>
            <a:r>
              <a:t>Cerebras Llama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23760" y="3657600"/>
            <a:ext cx="1280160" cy="320040"/>
          </a:xfrm>
          <a:prstGeom prst="roundRect">
            <a:avLst/>
          </a:prstGeom>
          <a:solidFill>
            <a:srgbClr val="B8D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>
              <a:defRPr sz="1100" b="1">
                <a:solidFill>
                  <a:srgbClr val="1B4F72"/>
                </a:solidFill>
                <a:latin typeface="Calibri"/>
              </a:defRPr>
            </a:pPr>
            <a:r>
              <a:t>debate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18320" y="2651760"/>
            <a:ext cx="25603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0" y="28346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40"/>
              </a:lnSpc>
              <a:spcAft>
                <a:spcPts val="0"/>
              </a:spcAft>
              <a:defRPr sz="1800" b="1" i="0">
                <a:solidFill>
                  <a:srgbClr val="2C6F9B"/>
                </a:solidFill>
                <a:latin typeface="Calibri"/>
              </a:defRPr>
            </a:pPr>
            <a:r>
              <a:t>AE3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32461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200" b="0" i="0">
                <a:solidFill>
                  <a:srgbClr val="636E72"/>
                </a:solidFill>
                <a:latin typeface="Calibri"/>
              </a:defRPr>
            </a:pPr>
            <a:r>
              <a:t>Groq Llama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0" y="3657600"/>
            <a:ext cx="1280160" cy="320040"/>
          </a:xfrm>
          <a:prstGeom prst="roundRect">
            <a:avLst/>
          </a:prstGeom>
          <a:solidFill>
            <a:srgbClr val="B8D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>
              <a:defRPr sz="1100" b="1">
                <a:solidFill>
                  <a:srgbClr val="1B4F72"/>
                </a:solidFill>
                <a:latin typeface="Calibri"/>
              </a:defRPr>
            </a:pPr>
            <a:r>
              <a:t>debate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0400" y="4754880"/>
            <a:ext cx="27432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83280" y="48920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210"/>
              </a:lnSpc>
              <a:spcAft>
                <a:spcPts val="0"/>
              </a:spcAft>
              <a:defRPr sz="1700" b="1" i="0">
                <a:solidFill>
                  <a:srgbClr val="2C6F9B"/>
                </a:solidFill>
                <a:latin typeface="Calibri"/>
              </a:defRPr>
            </a:pPr>
            <a:r>
              <a:t>Feedback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31920" y="5257800"/>
            <a:ext cx="1280160" cy="274320"/>
          </a:xfrm>
          <a:prstGeom prst="roundRect">
            <a:avLst/>
          </a:prstGeom>
          <a:solidFill>
            <a:srgbClr val="E3D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>
              <a:defRPr sz="1000" b="1">
                <a:solidFill>
                  <a:srgbClr val="2D3436"/>
                </a:solidFill>
                <a:latin typeface="Calibri"/>
              </a:defRPr>
            </a:pPr>
            <a:r>
              <a:t>veredicto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4754880"/>
            <a:ext cx="27432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48920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210"/>
              </a:lnSpc>
              <a:spcAft>
                <a:spcPts val="0"/>
              </a:spcAft>
              <a:defRPr sz="1700" b="1" i="0">
                <a:solidFill>
                  <a:srgbClr val="2C6F9B"/>
                </a:solidFill>
                <a:latin typeface="Calibri"/>
              </a:defRPr>
            </a:pPr>
            <a:r>
              <a:t>MCP Tools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0" y="5257800"/>
            <a:ext cx="1280160" cy="274320"/>
          </a:xfrm>
          <a:prstGeom prst="roundRect">
            <a:avLst/>
          </a:prstGeom>
          <a:solidFill>
            <a:srgbClr val="E3D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>
              <a:defRPr sz="1000" b="1">
                <a:solidFill>
                  <a:srgbClr val="2D3436"/>
                </a:solidFill>
                <a:latin typeface="Calibri"/>
              </a:defRPr>
            </a:pPr>
            <a:r>
              <a:t>herramientas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200" b="0" i="0">
                <a:solidFill>
                  <a:srgbClr val="636E72"/>
                </a:solidFill>
                <a:latin typeface="Calibri"/>
              </a:defRPr>
            </a:pPr>
            <a:r>
              <a:t>Cada agente es un proceso independiente con su propio LLM, conectado via A2A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60"/>
              </a:lnSpc>
              <a:spcAft>
                <a:spcPts val="0"/>
              </a:spcAft>
              <a:defRPr sz="3200" b="1" i="0">
                <a:solidFill>
                  <a:srgbClr val="1B4F72"/>
                </a:solidFill>
                <a:latin typeface="Calibri"/>
              </a:defRPr>
            </a:pPr>
            <a:r>
              <a:t>Flujo de ejecución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10"/>
              </a:lnSpc>
              <a:spcAft>
                <a:spcPts val="0"/>
              </a:spcAft>
              <a:defRPr sz="1700" b="0" i="0">
                <a:solidFill>
                  <a:srgbClr val="636E72"/>
                </a:solidFill>
                <a:latin typeface="Calibri"/>
              </a:defRPr>
            </a:pPr>
            <a:r>
              <a:t>7 fases — el LLM decide el plan, no el código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1371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120"/>
              </a:lnSpc>
              <a:spcAft>
                <a:spcPts val="0"/>
              </a:spcAft>
              <a:defRPr sz="2400" b="1" i="0">
                <a:solidFill>
                  <a:srgbClr val="2C6F9B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31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200" b="0" i="0">
                <a:solidFill>
                  <a:srgbClr val="2D3436"/>
                </a:solidFill>
                <a:latin typeface="Calibri"/>
              </a:defRPr>
            </a:pPr>
            <a:r>
              <a:t>Discover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96596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00"/>
              </a:lnSpc>
              <a:spcAft>
                <a:spcPts val="0"/>
              </a:spcAft>
              <a:defRPr sz="2000" b="0" i="0">
                <a:solidFill>
                  <a:srgbClr val="5196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57400" y="1828800"/>
            <a:ext cx="1371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19202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120"/>
              </a:lnSpc>
              <a:spcAft>
                <a:spcPts val="0"/>
              </a:spcAft>
              <a:defRPr sz="2400" b="1" i="0">
                <a:solidFill>
                  <a:srgbClr val="2C6F9B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2331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200" b="0" i="0">
                <a:solidFill>
                  <a:srgbClr val="2D3436"/>
                </a:solidFill>
                <a:latin typeface="Calibri"/>
              </a:defRPr>
            </a:pPr>
            <a:r>
              <a:t>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196596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00"/>
              </a:lnSpc>
              <a:spcAft>
                <a:spcPts val="0"/>
              </a:spcAft>
              <a:defRPr sz="2000" b="0" i="0">
                <a:solidFill>
                  <a:srgbClr val="5196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0" y="1828800"/>
            <a:ext cx="1371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19202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120"/>
              </a:lnSpc>
              <a:spcAft>
                <a:spcPts val="0"/>
              </a:spcAft>
              <a:defRPr sz="2400" b="1" i="0">
                <a:solidFill>
                  <a:srgbClr val="2C6F9B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331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200" b="0" i="0">
                <a:solidFill>
                  <a:srgbClr val="2D3436"/>
                </a:solidFill>
                <a:latin typeface="Calibri"/>
              </a:defRPr>
            </a:pPr>
            <a:r>
              <a:t>Capacity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196596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00"/>
              </a:lnSpc>
              <a:spcAft>
                <a:spcPts val="0"/>
              </a:spcAft>
              <a:defRPr sz="2000" b="0" i="0">
                <a:solidFill>
                  <a:srgbClr val="5196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57800" y="1828800"/>
            <a:ext cx="1371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57800" y="19202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120"/>
              </a:lnSpc>
              <a:spcAft>
                <a:spcPts val="0"/>
              </a:spcAft>
              <a:defRPr sz="2400" b="1" i="0">
                <a:solidFill>
                  <a:srgbClr val="2C6F9B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7800" y="2331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200" b="0" i="0">
                <a:solidFill>
                  <a:srgbClr val="2D3436"/>
                </a:solidFill>
                <a:latin typeface="Calibri"/>
              </a:defRPr>
            </a:pPr>
            <a:r>
              <a:t>Execute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196596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00"/>
              </a:lnSpc>
              <a:spcAft>
                <a:spcPts val="0"/>
              </a:spcAft>
              <a:defRPr sz="2000" b="0" i="0">
                <a:solidFill>
                  <a:srgbClr val="5196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0" y="1828800"/>
            <a:ext cx="1371600" cy="914400"/>
          </a:xfrm>
          <a:prstGeom prst="roundRect">
            <a:avLst/>
          </a:prstGeom>
          <a:solidFill>
            <a:srgbClr val="E8F4FA"/>
          </a:solidFill>
          <a:ln w="12700">
            <a:solidFill>
              <a:srgbClr val="B8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0" y="19202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120"/>
              </a:lnSpc>
              <a:spcAft>
                <a:spcPts val="0"/>
              </a:spcAft>
              <a:defRPr sz="2400" b="1" i="0">
                <a:solidFill>
                  <a:srgbClr val="2C6F9B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2331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200" b="0" i="0">
                <a:solidFill>
                  <a:srgbClr val="2D3436"/>
                </a:solidFill>
                <a:latin typeface="Calibri"/>
              </a:defRPr>
            </a:pPr>
            <a:r>
              <a:t>Consensus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196596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00"/>
              </a:lnSpc>
              <a:spcAft>
                <a:spcPts val="0"/>
              </a:spcAft>
              <a:defRPr sz="2000" b="0" i="0">
                <a:solidFill>
                  <a:srgbClr val="5196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58200" y="1828800"/>
            <a:ext cx="1371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58200" y="19202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120"/>
              </a:lnSpc>
              <a:spcAft>
                <a:spcPts val="0"/>
              </a:spcAft>
              <a:defRPr sz="2400" b="1" i="0">
                <a:solidFill>
                  <a:srgbClr val="2C6F9B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2331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200" b="0" i="0">
                <a:solidFill>
                  <a:srgbClr val="2D3436"/>
                </a:solidFill>
                <a:latin typeface="Calibri"/>
              </a:defRPr>
            </a:pPr>
            <a:r>
              <a:t>Feedback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29800" y="196596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00"/>
              </a:lnSpc>
              <a:spcAft>
                <a:spcPts val="0"/>
              </a:spcAft>
              <a:defRPr sz="2000" b="0" i="0">
                <a:solidFill>
                  <a:srgbClr val="5196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058400" y="1828800"/>
            <a:ext cx="1371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0" y="19202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120"/>
              </a:lnSpc>
              <a:spcAft>
                <a:spcPts val="0"/>
              </a:spcAft>
              <a:defRPr sz="2400" b="1" i="0">
                <a:solidFill>
                  <a:srgbClr val="2C6F9B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2331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200" b="0" i="0">
                <a:solidFill>
                  <a:srgbClr val="2D3436"/>
                </a:solidFill>
                <a:latin typeface="Calibri"/>
              </a:defRPr>
            </a:pPr>
            <a:r>
              <a:t>Synthesize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3200400"/>
            <a:ext cx="502920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3310128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Aft>
                <a:spcPts val="0"/>
              </a:spcAft>
              <a:defRPr sz="1800" b="1" i="0">
                <a:solidFill>
                  <a:srgbClr val="2C6F9B"/>
                </a:solidFill>
                <a:latin typeface="Calibri"/>
              </a:defRPr>
            </a:pPr>
            <a:r>
              <a:t>Lo que decide el LLM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365760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0" i="0">
                <a:solidFill>
                  <a:srgbClr val="2D3436"/>
                </a:solidFill>
                <a:latin typeface="Calibri"/>
              </a:defRPr>
            </a:pPr>
            <a:r>
              <a:t>· Qué skills usar y en qué orden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391363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0" i="0">
                <a:solidFill>
                  <a:srgbClr val="2D3436"/>
                </a:solidFill>
                <a:latin typeface="Calibri"/>
              </a:defRPr>
            </a:pPr>
            <a:r>
              <a:t>· Qué roles asignar a cada agente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4169664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0" i="0">
                <a:solidFill>
                  <a:srgbClr val="2D3436"/>
                </a:solidFill>
                <a:latin typeface="Calibri"/>
              </a:defRPr>
            </a:pPr>
            <a:r>
              <a:t>· Cuándo extender el debate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4425696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0" i="0">
                <a:solidFill>
                  <a:srgbClr val="2D3436"/>
                </a:solidFill>
                <a:latin typeface="Calibri"/>
              </a:defRPr>
            </a:pPr>
            <a:r>
              <a:t>· Si añadir agentes nuevos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0" y="3200400"/>
            <a:ext cx="502920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0" y="3310128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Aft>
                <a:spcPts val="0"/>
              </a:spcAft>
              <a:defRPr sz="1800" b="1" i="0">
                <a:solidFill>
                  <a:srgbClr val="2C6F9B"/>
                </a:solidFill>
                <a:latin typeface="Calibri"/>
              </a:defRPr>
            </a:pPr>
            <a:r>
              <a:t>Lo que está hardcodeado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365760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0" i="0">
                <a:solidFill>
                  <a:srgbClr val="2D3436"/>
                </a:solidFill>
                <a:latin typeface="Calibri"/>
              </a:defRPr>
            </a:pPr>
            <a:r>
              <a:t>· Métricas de consenso (embeddings)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0" y="391363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0" i="0">
                <a:solidFill>
                  <a:srgbClr val="2D3436"/>
                </a:solidFill>
                <a:latin typeface="Calibri"/>
              </a:defRPr>
            </a:pPr>
            <a:r>
              <a:t>· Umbral de convergencia (0.75)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0" y="4169664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0" i="0">
                <a:solidFill>
                  <a:srgbClr val="2D3436"/>
                </a:solidFill>
                <a:latin typeface="Calibri"/>
              </a:defRPr>
            </a:pPr>
            <a:r>
              <a:t>· Máximo de extensiones (3)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0" y="4425696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0" i="0">
                <a:solidFill>
                  <a:srgbClr val="2D3436"/>
                </a:solidFill>
                <a:latin typeface="Calibri"/>
              </a:defRPr>
            </a:pPr>
            <a:r>
              <a:t>· Pesos de los componentes del score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60"/>
              </a:lnSpc>
              <a:spcAft>
                <a:spcPts val="0"/>
              </a:spcAft>
              <a:defRPr sz="3200" b="1" i="0">
                <a:solidFill>
                  <a:srgbClr val="1B4F72"/>
                </a:solidFill>
                <a:latin typeface="Calibri"/>
              </a:defRPr>
            </a:pPr>
            <a:r>
              <a:t>Consenso empírico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10"/>
              </a:lnSpc>
              <a:spcAft>
                <a:spcPts val="0"/>
              </a:spcAft>
              <a:defRPr sz="1700" b="0" i="0">
                <a:solidFill>
                  <a:srgbClr val="636E72"/>
                </a:solidFill>
                <a:latin typeface="Calibri"/>
              </a:defRPr>
            </a:pPr>
            <a:r>
              <a:t>Sin opinión del LLM — solo matemáticas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3035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6420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Aft>
                <a:spcPts val="0"/>
              </a:spcAft>
              <a:defRPr sz="1800" b="1" i="0">
                <a:solidFill>
                  <a:srgbClr val="2C6F9B"/>
                </a:solidFill>
                <a:latin typeface="Calibri"/>
              </a:defRPr>
            </a:pPr>
            <a:r>
              <a:t>Eje AE1 ↔ AE2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0" i="0">
                <a:solidFill>
                  <a:srgbClr val="2D3436"/>
                </a:solidFill>
                <a:latin typeface="Calibri"/>
              </a:defRPr>
            </a:pPr>
            <a:r>
              <a:t>Las aperturas de AE1 y AE2 definen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6771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0" i="0">
                <a:solidFill>
                  <a:srgbClr val="2D3436"/>
                </a:solidFill>
                <a:latin typeface="Calibri"/>
              </a:defRPr>
            </a:pPr>
            <a:r>
              <a:t>posición 0.0 y 1.0. Cada texto posterior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23744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0" i="0">
                <a:solidFill>
                  <a:srgbClr val="2D3436"/>
                </a:solidFill>
                <a:latin typeface="Calibri"/>
              </a:defRPr>
            </a:pPr>
            <a:r>
              <a:t>se ubica por similitud coseno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79776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0" i="0">
                <a:solidFill>
                  <a:srgbClr val="2D3436"/>
                </a:solidFill>
                <a:latin typeface="Calibri"/>
              </a:defRPr>
            </a:pPr>
            <a:r>
              <a:t>con esos anclas.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749039"/>
            <a:ext cx="530352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858767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Aft>
                <a:spcPts val="0"/>
              </a:spcAft>
              <a:defRPr sz="1800" b="1" i="0">
                <a:solidFill>
                  <a:srgbClr val="2C6F9B"/>
                </a:solidFill>
                <a:latin typeface="Calibri"/>
              </a:defRPr>
            </a:pPr>
            <a:r>
              <a:t>4 componentes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06239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0" i="0">
                <a:solidFill>
                  <a:srgbClr val="2D3436"/>
                </a:solidFill>
                <a:latin typeface="Calibri"/>
              </a:defRPr>
            </a:pPr>
            <a:r>
              <a:t>· Dispersión (40%) — qué tan cerca están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462271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0" i="0">
                <a:solidFill>
                  <a:srgbClr val="2D3436"/>
                </a:solidFill>
                <a:latin typeface="Calibri"/>
              </a:defRPr>
            </a:pPr>
            <a:r>
              <a:t>· Similitud (35%) — semántica entre textos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718303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0" i="0">
                <a:solidFill>
                  <a:srgbClr val="2D3436"/>
                </a:solidFill>
                <a:latin typeface="Calibri"/>
              </a:defRPr>
            </a:pPr>
            <a:r>
              <a:t>· Movimiento (15%) — ¿se están moviendo?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974335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0" i="0">
                <a:solidFill>
                  <a:srgbClr val="2D3436"/>
                </a:solidFill>
                <a:latin typeface="Calibri"/>
              </a:defRPr>
            </a:pPr>
            <a:r>
              <a:t>· Concesiones (10%) — "tienes razón"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554480"/>
            <a:ext cx="5029200" cy="4572000"/>
          </a:xfrm>
          <a:prstGeom prst="roundRect">
            <a:avLst/>
          </a:prstGeom>
          <a:solidFill>
            <a:srgbClr val="E8F4FA"/>
          </a:solidFill>
          <a:ln w="12700">
            <a:solidFill>
              <a:srgbClr val="B8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20"/>
              </a:lnSpc>
              <a:spcAft>
                <a:spcPts val="0"/>
              </a:spcAft>
              <a:defRPr sz="1400" b="0" i="0">
                <a:solidFill>
                  <a:srgbClr val="636E72"/>
                </a:solidFill>
                <a:latin typeface="Calibri"/>
              </a:defRPr>
            </a:pPr>
            <a:r>
              <a:t>Fórmula del score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56032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00"/>
              </a:lnSpc>
              <a:spcAft>
                <a:spcPts val="0"/>
              </a:spcAft>
              <a:defRPr sz="2000" b="0" i="0">
                <a:solidFill>
                  <a:srgbClr val="1B4F72"/>
                </a:solidFill>
                <a:latin typeface="Consolas"/>
              </a:defRPr>
            </a:pPr>
            <a:r>
              <a:t>score = 0.40 · dispersión</a:t>
            </a:r>
            <a:br/>
            <a:r>
              <a:t>      + 0.35 · similitud</a:t>
            </a:r>
            <a:br/>
            <a:r>
              <a:t>      + 0.15 · movimiento</a:t>
            </a:r>
            <a:br/>
            <a:r>
              <a:t>      + 0.10 · concesiones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48463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D3436"/>
                </a:solidFill>
                <a:latin typeface="Calibri"/>
              </a:rPr>
              <a:t>Si score ≥ </a:t>
            </a:r>
            <a:r>
              <a:rPr sz="2800" b="1" i="0">
                <a:solidFill>
                  <a:srgbClr val="2C6F9B"/>
                </a:solidFill>
                <a:latin typeface="Calibri"/>
              </a:rPr>
              <a:t>0.75</a:t>
            </a:r>
            <a:r>
              <a:rPr sz="1800" b="0" i="0">
                <a:solidFill>
                  <a:srgbClr val="2D3436"/>
                </a:solidFill>
                <a:latin typeface="Calibri"/>
              </a:rPr>
              <a:t>  →  consenso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4F7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60"/>
              </a:lnSpc>
              <a:spcAft>
                <a:spcPts val="0"/>
              </a:spcAft>
              <a:defRPr sz="3200" b="1" i="0">
                <a:solidFill>
                  <a:srgbClr val="F2E8D5"/>
                </a:solidFill>
                <a:latin typeface="Calibri"/>
              </a:defRPr>
            </a:pPr>
            <a:r>
              <a:t>Adición dinámica de agentes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10"/>
              </a:lnSpc>
              <a:spcAft>
                <a:spcPts val="0"/>
              </a:spcAft>
              <a:defRPr sz="1700" b="0" i="0">
                <a:solidFill>
                  <a:srgbClr val="B8D8EA"/>
                </a:solidFill>
                <a:latin typeface="Calibri"/>
              </a:defRPr>
            </a:pPr>
            <a:r>
              <a:t>La potencia real del protocolo A2A aplicada a nuestro caso de uso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029200" cy="2743200"/>
          </a:xfrm>
          <a:prstGeom prst="roundRect">
            <a:avLst/>
          </a:prstGeom>
          <a:solidFill>
            <a:srgbClr val="255E85"/>
          </a:solidFill>
          <a:ln w="12700">
            <a:solidFill>
              <a:srgbClr val="3A7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Aft>
                <a:spcPts val="0"/>
              </a:spcAft>
              <a:defRPr sz="2000" b="1" i="0">
                <a:solidFill>
                  <a:srgbClr val="F2E8D5"/>
                </a:solidFill>
                <a:latin typeface="Calibri"/>
              </a:defRPr>
            </a:pPr>
            <a:r>
              <a:t>Ronda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56032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Aft>
                <a:spcPts val="0"/>
              </a:spcAft>
              <a:defRPr sz="1500" b="0" i="0">
                <a:solidFill>
                  <a:srgbClr val="B8D8EA"/>
                </a:solidFill>
                <a:latin typeface="Calibri"/>
              </a:defRPr>
            </a:pPr>
            <a:r>
              <a:t>AE1, AE2 y AE3 debaten.</a:t>
            </a:r>
            <a:br/>
            <a:r>
              <a:t>No llegan a consenso.</a:t>
            </a:r>
            <a:br/>
            <a:br/>
            <a:r>
              <a:t>El orquestador detecta agentes</a:t>
            </a:r>
            <a:br/>
            <a:r>
              <a:t>disponibles en el registry que</a:t>
            </a:r>
            <a:br/>
            <a:r>
              <a:t>no están participando.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828800"/>
            <a:ext cx="5029200" cy="2743200"/>
          </a:xfrm>
          <a:prstGeom prst="roundRect">
            <a:avLst/>
          </a:prstGeom>
          <a:solidFill>
            <a:srgbClr val="255E85"/>
          </a:solidFill>
          <a:ln w="12700">
            <a:solidFill>
              <a:srgbClr val="3A7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2011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Aft>
                <a:spcPts val="0"/>
              </a:spcAft>
              <a:defRPr sz="2000" b="1" i="0">
                <a:solidFill>
                  <a:srgbClr val="F2E8D5"/>
                </a:solidFill>
                <a:latin typeface="Calibri"/>
              </a:defRPr>
            </a:pPr>
            <a:r>
              <a:t>Ronda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56032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Aft>
                <a:spcPts val="0"/>
              </a:spcAft>
              <a:defRPr sz="1500" b="0" i="0">
                <a:solidFill>
                  <a:srgbClr val="B8D8EA"/>
                </a:solidFill>
                <a:latin typeface="Calibri"/>
              </a:defRPr>
            </a:pPr>
            <a:r>
              <a:t>El planner decide: "Un experto</a:t>
            </a:r>
            <a:br/>
            <a:r>
              <a:t>legal ayudaría a desbloquear."</a:t>
            </a:r>
            <a:br/>
            <a:br/>
            <a:r>
              <a:t>AE4 se incorpora al debate</a:t>
            </a:r>
            <a:br/>
            <a:r>
              <a:t>con contexto completo de</a:t>
            </a:r>
            <a:br/>
            <a:r>
              <a:t>lo discutido.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0292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80"/>
              </a:lnSpc>
              <a:spcAft>
                <a:spcPts val="0"/>
              </a:spcAft>
              <a:defRPr sz="1800" b="0" i="0">
                <a:solidFill>
                  <a:srgbClr val="FFFFFF"/>
                </a:solidFill>
                <a:latin typeface="Calibri"/>
              </a:defRPr>
            </a:pPr>
            <a:r>
              <a:t>El agente añadido puede ser de otro equipo, otra organización, otro país.</a:t>
            </a:r>
            <a:br/>
            <a:r>
              <a:t>Solo necesita publicar una Agent Card con skill "debate".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60"/>
              </a:lnSpc>
              <a:spcAft>
                <a:spcPts val="0"/>
              </a:spcAft>
              <a:defRPr sz="3200" b="1" i="0">
                <a:solidFill>
                  <a:srgbClr val="1B4F72"/>
                </a:solidFill>
                <a:latin typeface="Calibri"/>
              </a:defRPr>
            </a:pPr>
            <a:r>
              <a:t>¿Cómo funciona?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2560320" cy="1097280"/>
          </a:xfrm>
          <a:prstGeom prst="roundRect">
            <a:avLst/>
          </a:prstGeom>
          <a:solidFill>
            <a:srgbClr val="E3D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>
              <a:defRPr sz="1500" b="1">
                <a:solidFill>
                  <a:srgbClr val="2D3436"/>
                </a:solidFill>
                <a:latin typeface="Calibri"/>
              </a:defRPr>
            </a:pPr>
            <a:r>
              <a:t>Score &lt; 0.75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54680" y="15087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40"/>
              </a:lnSpc>
              <a:spcAft>
                <a:spcPts val="0"/>
              </a:spcAft>
              <a:defRPr sz="2800" b="0" i="0">
                <a:solidFill>
                  <a:srgbClr val="5196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66160" y="1371600"/>
            <a:ext cx="2560320" cy="1097280"/>
          </a:xfrm>
          <a:prstGeom prst="roundRect">
            <a:avLst/>
          </a:prstGeom>
          <a:solidFill>
            <a:srgbClr val="B8D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>
              <a:defRPr sz="1500" b="1">
                <a:solidFill>
                  <a:srgbClr val="1B4F72"/>
                </a:solidFill>
                <a:latin typeface="Calibri"/>
              </a:defRPr>
            </a:pPr>
            <a:r>
              <a:t>Buscar agentes</a:t>
            </a:r>
            <a:br/>
            <a:r>
              <a:t>debate no</a:t>
            </a:r>
            <a:br/>
            <a:r>
              <a:t>participando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2200" y="15087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40"/>
              </a:lnSpc>
              <a:spcAft>
                <a:spcPts val="0"/>
              </a:spcAft>
              <a:defRPr sz="2800" b="0" i="0">
                <a:solidFill>
                  <a:srgbClr val="5196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371600"/>
            <a:ext cx="2560320" cy="1097280"/>
          </a:xfrm>
          <a:prstGeom prst="roundRect">
            <a:avLst/>
          </a:prstGeom>
          <a:solidFill>
            <a:srgbClr val="E3D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>
              <a:defRPr sz="1500" b="1">
                <a:solidFill>
                  <a:srgbClr val="2D3436"/>
                </a:solidFill>
                <a:latin typeface="Calibri"/>
              </a:defRPr>
            </a:pPr>
            <a:r>
              <a:t>Planner evalúa</a:t>
            </a:r>
            <a:br/>
            <a:r>
              <a:t>si añadirlos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89720" y="15087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40"/>
              </a:lnSpc>
              <a:spcAft>
                <a:spcPts val="0"/>
              </a:spcAft>
              <a:defRPr sz="2800" b="0" i="0">
                <a:solidFill>
                  <a:srgbClr val="5196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199" y="1371600"/>
            <a:ext cx="2560320" cy="1097280"/>
          </a:xfrm>
          <a:prstGeom prst="roundRect">
            <a:avLst/>
          </a:prstGeom>
          <a:solidFill>
            <a:srgbClr val="B8D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>
              <a:defRPr sz="1500" b="1">
                <a:solidFill>
                  <a:srgbClr val="1B4F72"/>
                </a:solidFill>
                <a:latin typeface="Calibri"/>
              </a:defRPr>
            </a:pPr>
            <a:r>
              <a:t>Extensión con</a:t>
            </a:r>
            <a:br/>
            <a:r>
              <a:t>N+1 agentes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017520"/>
            <a:ext cx="32918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12724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10"/>
              </a:lnSpc>
              <a:spcAft>
                <a:spcPts val="0"/>
              </a:spcAft>
              <a:defRPr sz="1700" b="1" i="0">
                <a:solidFill>
                  <a:srgbClr val="2C6F9B"/>
                </a:solidFill>
                <a:latin typeface="Calibri"/>
              </a:defRPr>
            </a:pPr>
            <a:r>
              <a:t>Filtrado inteligente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747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0" i="0">
                <a:solidFill>
                  <a:srgbClr val="2D3436"/>
                </a:solidFill>
                <a:latin typeface="Calibri"/>
              </a:defRPr>
            </a:pPr>
            <a:r>
              <a:t>Solo agentes con skill debate.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73075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0" i="0">
                <a:solidFill>
                  <a:srgbClr val="2D3436"/>
                </a:solidFill>
                <a:latin typeface="Calibri"/>
              </a:defRPr>
            </a:pPr>
            <a:r>
              <a:t>Nunca normalizer, feedback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98678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0" i="0">
                <a:solidFill>
                  <a:srgbClr val="2D3436"/>
                </a:solidFill>
                <a:latin typeface="Calibri"/>
              </a:defRPr>
            </a:pPr>
            <a:r>
              <a:t>ni herramientas.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3017520"/>
            <a:ext cx="32918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312724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10"/>
              </a:lnSpc>
              <a:spcAft>
                <a:spcPts val="0"/>
              </a:spcAft>
              <a:defRPr sz="1700" b="1" i="0">
                <a:solidFill>
                  <a:srgbClr val="2C6F9B"/>
                </a:solidFill>
                <a:latin typeface="Calibri"/>
              </a:defRPr>
            </a:pPr>
            <a:r>
              <a:t>Decisión del LLM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4747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0" i="0">
                <a:solidFill>
                  <a:srgbClr val="2D3436"/>
                </a:solidFill>
                <a:latin typeface="Calibri"/>
              </a:defRPr>
            </a:pPr>
            <a:r>
              <a:t>El planner decide si la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73075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0" i="0">
                <a:solidFill>
                  <a:srgbClr val="2D3436"/>
                </a:solidFill>
                <a:latin typeface="Calibri"/>
              </a:defRPr>
            </a:pPr>
            <a:r>
              <a:t>expertise del nuevo agente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98678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0" i="0">
                <a:solidFill>
                  <a:srgbClr val="2D3436"/>
                </a:solidFill>
                <a:latin typeface="Calibri"/>
              </a:defRPr>
            </a:pPr>
            <a:r>
              <a:t>ayuda al deadlock actual.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3017520"/>
            <a:ext cx="32918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312724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10"/>
              </a:lnSpc>
              <a:spcAft>
                <a:spcPts val="0"/>
              </a:spcAft>
              <a:defRPr sz="1700" b="1" i="0">
                <a:solidFill>
                  <a:srgbClr val="2C6F9B"/>
                </a:solidFill>
                <a:latin typeface="Calibri"/>
              </a:defRPr>
            </a:pPr>
            <a:r>
              <a:t>Catch-up automático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34747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0" i="0">
                <a:solidFill>
                  <a:srgbClr val="2D3436"/>
                </a:solidFill>
                <a:latin typeface="Calibri"/>
              </a:defRPr>
            </a:pPr>
            <a:r>
              <a:t>El nuevo agente recibe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373075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0" i="0">
                <a:solidFill>
                  <a:srgbClr val="2D3436"/>
                </a:solidFill>
                <a:latin typeface="Calibri"/>
              </a:defRPr>
            </a:pPr>
            <a:r>
              <a:t>todo el contexto previo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398678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0" i="0">
                <a:solidFill>
                  <a:srgbClr val="2D3436"/>
                </a:solidFill>
                <a:latin typeface="Calibri"/>
              </a:defRPr>
            </a:pPr>
            <a:r>
              <a:t>via depends_on.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60"/>
              </a:lnSpc>
              <a:spcAft>
                <a:spcPts val="0"/>
              </a:spcAft>
              <a:defRPr sz="3200" b="1" i="0">
                <a:solidFill>
                  <a:srgbClr val="1B4F72"/>
                </a:solidFill>
                <a:latin typeface="Calibri"/>
              </a:defRPr>
            </a:pPr>
            <a:r>
              <a:t>Despliegue y monitorización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50292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89888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Aft>
                <a:spcPts val="0"/>
              </a:spcAft>
              <a:defRPr sz="1800" b="1" i="0">
                <a:solidFill>
                  <a:srgbClr val="2C6F9B"/>
                </a:solidFill>
                <a:latin typeface="Calibri"/>
              </a:defRPr>
            </a:pPr>
            <a:r>
              <a:t>Infraestructura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0" i="0">
                <a:solidFill>
                  <a:srgbClr val="2D3436"/>
                </a:solidFill>
                <a:latin typeface="Calibri"/>
              </a:defRPr>
            </a:pPr>
            <a:r>
              <a:t>· Docker Compose con 8 servicios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9339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0" i="0">
                <a:solidFill>
                  <a:srgbClr val="2D3436"/>
                </a:solidFill>
                <a:latin typeface="Calibri"/>
              </a:defRPr>
            </a:pPr>
            <a:r>
              <a:t>· mTLS entre agentes en producción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9424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0" i="0">
                <a:solidFill>
                  <a:srgbClr val="2D3436"/>
                </a:solidFill>
                <a:latin typeface="Calibri"/>
              </a:defRPr>
            </a:pPr>
            <a:r>
              <a:t>· Healthchecks con dependencias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05456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0" i="0">
                <a:solidFill>
                  <a:srgbClr val="2D3436"/>
                </a:solidFill>
                <a:latin typeface="Calibri"/>
              </a:defRPr>
            </a:pPr>
            <a:r>
              <a:t>· VM en la UPC (nattech.fib.upc.edu)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50292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50208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Aft>
                <a:spcPts val="0"/>
              </a:spcAft>
              <a:defRPr sz="1800" b="1" i="0">
                <a:solidFill>
                  <a:srgbClr val="2C6F9B"/>
                </a:solidFill>
                <a:latin typeface="Calibri"/>
              </a:defRPr>
            </a:pPr>
            <a:r>
              <a:t>Persistencia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29768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0" i="0">
                <a:solidFill>
                  <a:srgbClr val="2D3436"/>
                </a:solidFill>
                <a:latin typeface="Calibri"/>
              </a:defRPr>
            </a:pPr>
            <a:r>
              <a:t>· SQLite para historial de debates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55371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0" i="0">
                <a:solidFill>
                  <a:srgbClr val="2D3436"/>
                </a:solidFill>
                <a:latin typeface="Calibri"/>
              </a:defRPr>
            </a:pPr>
            <a:r>
              <a:t>· Replay de SSE events en F5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809744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0" i="0">
                <a:solidFill>
                  <a:srgbClr val="2D3436"/>
                </a:solidFill>
                <a:latin typeface="Calibri"/>
              </a:defRPr>
            </a:pPr>
            <a:r>
              <a:t>· Volúmenes Docker para datos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280160"/>
            <a:ext cx="5029200" cy="2194560"/>
          </a:xfrm>
          <a:prstGeom prst="roundRect">
            <a:avLst/>
          </a:prstGeom>
          <a:solidFill>
            <a:srgbClr val="E8F4FA"/>
          </a:solidFill>
          <a:ln w="12700">
            <a:solidFill>
              <a:srgbClr val="B8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389888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Aft>
                <a:spcPts val="0"/>
              </a:spcAft>
              <a:defRPr sz="1800" b="1" i="0">
                <a:solidFill>
                  <a:srgbClr val="1B4F72"/>
                </a:solidFill>
                <a:latin typeface="Calibri"/>
              </a:defRPr>
            </a:pPr>
            <a:r>
              <a:t>Observabilidad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173736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0" i="0">
                <a:solidFill>
                  <a:srgbClr val="2D3436"/>
                </a:solidFill>
                <a:latin typeface="Calibri"/>
              </a:defRPr>
            </a:pPr>
            <a:r>
              <a:t>· Prometheus — métricas de cada agente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199339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0" i="0">
                <a:solidFill>
                  <a:srgbClr val="2D3436"/>
                </a:solidFill>
                <a:latin typeface="Calibri"/>
              </a:defRPr>
            </a:pPr>
            <a:r>
              <a:t>· Loki + Promtail — logs centralizados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249424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0" i="0">
                <a:solidFill>
                  <a:srgbClr val="2D3436"/>
                </a:solidFill>
                <a:latin typeface="Calibri"/>
              </a:defRPr>
            </a:pPr>
            <a:r>
              <a:t>· Grafana — dashboards en tiempo real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3840480"/>
            <a:ext cx="50292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3950208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Aft>
                <a:spcPts val="0"/>
              </a:spcAft>
              <a:defRPr sz="1800" b="1" i="0">
                <a:solidFill>
                  <a:srgbClr val="2C6F9B"/>
                </a:solidFill>
                <a:latin typeface="Calibri"/>
              </a:defRPr>
            </a:pPr>
            <a:r>
              <a:t>¿Qué monitorizamos?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29768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0" i="0">
                <a:solidFill>
                  <a:srgbClr val="2D3436"/>
                </a:solidFill>
                <a:latin typeface="Calibri"/>
              </a:defRPr>
            </a:pPr>
            <a:r>
              <a:t>· Latencia LLM por agente y modelo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55371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0" i="0">
                <a:solidFill>
                  <a:srgbClr val="2D3436"/>
                </a:solidFill>
                <a:latin typeface="Calibri"/>
              </a:defRPr>
            </a:pPr>
            <a:r>
              <a:t>· Tasa de error de cada worker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809744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0" i="0">
                <a:solidFill>
                  <a:srgbClr val="2D3436"/>
                </a:solidFill>
                <a:latin typeface="Calibri"/>
              </a:defRPr>
            </a:pPr>
            <a:r>
              <a:t>· Correlación de logs por debate_id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5065776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0" i="0">
                <a:solidFill>
                  <a:srgbClr val="2D3436"/>
                </a:solidFill>
                <a:latin typeface="Calibri"/>
              </a:defRPr>
            </a:pPr>
            <a:r>
              <a:t>· Heatmap de deliberación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8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645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0" i="0">
                <a:solidFill>
                  <a:srgbClr val="636E72"/>
                </a:solidFill>
                <a:latin typeface="Calibri"/>
              </a:defRPr>
            </a:pPr>
            <a:r>
              <a:t>MOMENTO DE LA VERDAD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720"/>
              </a:lnSpc>
              <a:spcAft>
                <a:spcPts val="0"/>
              </a:spcAft>
              <a:defRPr sz="4400" b="1" i="0">
                <a:solidFill>
                  <a:srgbClr val="1B4F72"/>
                </a:solidFill>
                <a:latin typeface="Calibri"/>
              </a:defRPr>
            </a:pPr>
            <a:r>
              <a:t>Lanzamos la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657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Aft>
                <a:spcPts val="0"/>
              </a:spcAft>
              <a:defRPr sz="2000" b="0" i="0">
                <a:solidFill>
                  <a:srgbClr val="2D3436"/>
                </a:solidFill>
                <a:latin typeface="Calibri"/>
              </a:defRPr>
            </a:pPr>
            <a:r>
              <a:t>Mientras los agentes debaten, hablemos del futuro del protocolo.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109728" cy="1645920"/>
          </a:xfrm>
          <a:prstGeom prst="roundRect">
            <a:avLst/>
          </a:prstGeom>
          <a:solidFill>
            <a:srgbClr val="D4B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54864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59"/>
              </a:lnSpc>
              <a:spcAft>
                <a:spcPts val="0"/>
              </a:spcAft>
              <a:defRPr sz="2400" b="0" i="1">
                <a:solidFill>
                  <a:srgbClr val="1B4F72"/>
                </a:solidFill>
                <a:latin typeface="Calibri"/>
              </a:defRPr>
            </a:pPr>
            <a:r>
              <a:t>A2A será al ecosistema de agentes</a:t>
            </a:r>
            <a:br/>
            <a:r>
              <a:t>lo que HTTP fue a la web:</a:t>
            </a:r>
            <a:br/>
            <a:r>
              <a:t>el protocolo que permite que agentes</a:t>
            </a:r>
            <a:br/>
            <a:r>
              <a:t>de distintos proveedores colaboren</a:t>
            </a:r>
            <a:br/>
            <a:r>
              <a:t>sin conocerse previamente.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60"/>
              </a:lnSpc>
              <a:spcAft>
                <a:spcPts val="0"/>
              </a:spcAft>
              <a:defRPr sz="2200" b="1" i="0">
                <a:solidFill>
                  <a:srgbClr val="2C6F9B"/>
                </a:solidFill>
                <a:latin typeface="Calibri"/>
              </a:defRPr>
            </a:pPr>
            <a:r>
              <a:t>¿Por qué creemos esto?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383280"/>
            <a:ext cx="347472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49300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10"/>
              </a:lnSpc>
              <a:spcAft>
                <a:spcPts val="0"/>
              </a:spcAft>
              <a:defRPr sz="1700" b="1" i="0">
                <a:solidFill>
                  <a:srgbClr val="2C6F9B"/>
                </a:solidFill>
                <a:latin typeface="Calibri"/>
              </a:defRPr>
            </a:pPr>
            <a:r>
              <a:t>El problema es real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0" i="0">
                <a:solidFill>
                  <a:srgbClr val="2D3436"/>
                </a:solidFill>
                <a:latin typeface="Calibri"/>
              </a:defRPr>
            </a:pPr>
            <a:r>
              <a:t>Hoy cada framework 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9651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0" i="0">
                <a:solidFill>
                  <a:srgbClr val="2D3436"/>
                </a:solidFill>
                <a:latin typeface="Calibri"/>
              </a:defRPr>
            </a:pPr>
            <a:r>
              <a:t>agentes es un silo.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35254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0" i="0">
                <a:solidFill>
                  <a:srgbClr val="2D3436"/>
                </a:solidFill>
                <a:latin typeface="Calibri"/>
              </a:defRPr>
            </a:pPr>
            <a:r>
              <a:t>LangChain no habla con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60857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0" i="0">
                <a:solidFill>
                  <a:srgbClr val="2D3436"/>
                </a:solidFill>
                <a:latin typeface="Calibri"/>
              </a:defRPr>
            </a:pPr>
            <a:r>
              <a:t>CrewAI ni con AutoGen.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3383280"/>
            <a:ext cx="347472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349300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10"/>
              </a:lnSpc>
              <a:spcAft>
                <a:spcPts val="0"/>
              </a:spcAft>
              <a:defRPr sz="1700" b="1" i="0">
                <a:solidFill>
                  <a:srgbClr val="2C6F9B"/>
                </a:solidFill>
                <a:latin typeface="Calibri"/>
              </a:defRPr>
            </a:pPr>
            <a:r>
              <a:t>Respaldo de la industria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8404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0" i="0">
                <a:solidFill>
                  <a:srgbClr val="2D3436"/>
                </a:solidFill>
                <a:latin typeface="Calibri"/>
              </a:defRPr>
            </a:pPr>
            <a:r>
              <a:t>Google, Salesforce, SAP,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409651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0" i="0">
                <a:solidFill>
                  <a:srgbClr val="2D3436"/>
                </a:solidFill>
                <a:latin typeface="Calibri"/>
              </a:defRPr>
            </a:pPr>
            <a:r>
              <a:t>Atlassian, MongoDB 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435254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0" i="0">
                <a:solidFill>
                  <a:srgbClr val="2D3436"/>
                </a:solidFill>
                <a:latin typeface="Calibri"/>
              </a:defRPr>
            </a:pPr>
            <a:r>
              <a:t>más de 50 empresas.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3383280"/>
            <a:ext cx="347472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349300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10"/>
              </a:lnSpc>
              <a:spcAft>
                <a:spcPts val="0"/>
              </a:spcAft>
              <a:defRPr sz="1700" b="1" i="0">
                <a:solidFill>
                  <a:srgbClr val="2C6F9B"/>
                </a:solidFill>
                <a:latin typeface="Calibri"/>
              </a:defRPr>
            </a:pPr>
            <a:r>
              <a:t>Diseño pragmático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38404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0" i="0">
                <a:solidFill>
                  <a:srgbClr val="2D3436"/>
                </a:solidFill>
                <a:latin typeface="Calibri"/>
              </a:defRPr>
            </a:pPr>
            <a:r>
              <a:t>JSON-RPC, HTTP, Agent Cards.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409651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0" i="0">
                <a:solidFill>
                  <a:srgbClr val="2D3436"/>
                </a:solidFill>
                <a:latin typeface="Calibri"/>
              </a:defRPr>
            </a:pPr>
            <a:r>
              <a:t>Usa estándares probados,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435254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0" i="0">
                <a:solidFill>
                  <a:srgbClr val="2D3436"/>
                </a:solidFill>
                <a:latin typeface="Calibri"/>
              </a:defRPr>
            </a:pPr>
            <a:r>
              <a:t>no reinventa la rueda.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60"/>
              </a:lnSpc>
              <a:spcAft>
                <a:spcPts val="0"/>
              </a:spcAft>
              <a:defRPr sz="3200" b="1" i="0">
                <a:solidFill>
                  <a:srgbClr val="1B4F72"/>
                </a:solidFill>
                <a:latin typeface="Calibri"/>
              </a:defRPr>
            </a:pPr>
            <a:r>
              <a:t>Donde A2A puede ser diferencial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3035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8132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Aft>
                <a:spcPts val="0"/>
              </a:spcAft>
              <a:defRPr sz="1800" b="1" i="0">
                <a:solidFill>
                  <a:srgbClr val="2C6F9B"/>
                </a:solidFill>
                <a:latin typeface="Calibri"/>
              </a:defRPr>
            </a:pPr>
            <a:r>
              <a:t>Empresa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0" i="0">
                <a:solidFill>
                  <a:srgbClr val="2D3436"/>
                </a:solidFill>
                <a:latin typeface="Calibri"/>
              </a:defRPr>
            </a:pPr>
            <a:r>
              <a:t>Un agente de RRHH de SAP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8483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0" i="0">
                <a:solidFill>
                  <a:srgbClr val="2D3436"/>
                </a:solidFill>
                <a:latin typeface="Calibri"/>
              </a:defRPr>
            </a:pPr>
            <a:r>
              <a:t>negocia vacaciones con un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40864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0" i="0">
                <a:solidFill>
                  <a:srgbClr val="2D3436"/>
                </a:solidFill>
                <a:latin typeface="Calibri"/>
              </a:defRPr>
            </a:pPr>
            <a:r>
              <a:t>agente de planning de Jira.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371600"/>
            <a:ext cx="53035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48132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Aft>
                <a:spcPts val="0"/>
              </a:spcAft>
              <a:defRPr sz="1800" b="1" i="0">
                <a:solidFill>
                  <a:srgbClr val="2C6F9B"/>
                </a:solidFill>
                <a:latin typeface="Calibri"/>
              </a:defRPr>
            </a:pPr>
            <a:r>
              <a:t>Marketplaces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8288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0" i="0">
                <a:solidFill>
                  <a:srgbClr val="2D3436"/>
                </a:solidFill>
                <a:latin typeface="Calibri"/>
              </a:defRPr>
            </a:pPr>
            <a:r>
              <a:t>Publicar agentes especializados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08483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0" i="0">
                <a:solidFill>
                  <a:srgbClr val="2D3436"/>
                </a:solidFill>
                <a:latin typeface="Calibri"/>
              </a:defRPr>
            </a:pPr>
            <a:r>
              <a:t>como servicios. Descubrimiento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340864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0" i="0">
                <a:solidFill>
                  <a:srgbClr val="2D3436"/>
                </a:solidFill>
                <a:latin typeface="Calibri"/>
              </a:defRPr>
            </a:pPr>
            <a:r>
              <a:t>automático por skills.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40480"/>
            <a:ext cx="53035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95020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Aft>
                <a:spcPts val="0"/>
              </a:spcAft>
              <a:defRPr sz="1800" b="1" i="0">
                <a:solidFill>
                  <a:srgbClr val="2C6F9B"/>
                </a:solidFill>
                <a:latin typeface="Calibri"/>
              </a:defRPr>
            </a:pPr>
            <a:r>
              <a:t>Cadenas de valor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2976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0" i="0">
                <a:solidFill>
                  <a:srgbClr val="2D3436"/>
                </a:solidFill>
                <a:latin typeface="Calibri"/>
              </a:defRPr>
            </a:pPr>
            <a:r>
              <a:t>Agente de un proveedor coordina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55371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0" i="0">
                <a:solidFill>
                  <a:srgbClr val="2D3436"/>
                </a:solidFill>
                <a:latin typeface="Calibri"/>
              </a:defRPr>
            </a:pPr>
            <a:r>
              <a:t>con agente de logística 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809744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0" i="0">
                <a:solidFill>
                  <a:srgbClr val="2D3436"/>
                </a:solidFill>
                <a:latin typeface="Calibri"/>
              </a:defRPr>
            </a:pPr>
            <a:r>
              <a:t>otra empresa en tiempo real.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3840480"/>
            <a:ext cx="53035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395020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Aft>
                <a:spcPts val="0"/>
              </a:spcAft>
              <a:defRPr sz="1800" b="1" i="0">
                <a:solidFill>
                  <a:srgbClr val="2C6F9B"/>
                </a:solidFill>
                <a:latin typeface="Calibri"/>
              </a:defRPr>
            </a:pPr>
            <a:r>
              <a:t>Investigación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42976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0" i="0">
                <a:solidFill>
                  <a:srgbClr val="2D3436"/>
                </a:solidFill>
                <a:latin typeface="Calibri"/>
              </a:defRPr>
            </a:pPr>
            <a:r>
              <a:t>Agentes de distintos laboratorios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55371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0" i="0">
                <a:solidFill>
                  <a:srgbClr val="2D3436"/>
                </a:solidFill>
                <a:latin typeface="Calibri"/>
              </a:defRPr>
            </a:pPr>
            <a:r>
              <a:t>analizan un mismo dataset desde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809744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0" i="0">
                <a:solidFill>
                  <a:srgbClr val="2D3436"/>
                </a:solidFill>
                <a:latin typeface="Calibri"/>
              </a:defRPr>
            </a:pPr>
            <a:r>
              <a:t>perspectivas diferentes.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60"/>
              </a:lnSpc>
              <a:spcAft>
                <a:spcPts val="0"/>
              </a:spcAft>
              <a:defRPr sz="3200" b="1" i="0">
                <a:solidFill>
                  <a:srgbClr val="1B4F72"/>
                </a:solidFill>
                <a:latin typeface="Calibri"/>
              </a:defRPr>
            </a:pPr>
            <a:r>
              <a:t>Retos y preguntas abiertas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3035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8132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Aft>
                <a:spcPts val="0"/>
              </a:spcAft>
              <a:defRPr sz="1800" b="1" i="0">
                <a:solidFill>
                  <a:srgbClr val="C0392B"/>
                </a:solidFill>
                <a:latin typeface="Calibri"/>
              </a:defRPr>
            </a:pPr>
            <a:r>
              <a:t>Confianza y seguridad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0" i="0">
                <a:solidFill>
                  <a:srgbClr val="2D3436"/>
                </a:solidFill>
                <a:latin typeface="Calibri"/>
              </a:defRPr>
            </a:pPr>
            <a:r>
              <a:t>¿Cómo confías en un agente 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8483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0" i="0">
                <a:solidFill>
                  <a:srgbClr val="2D3436"/>
                </a:solidFill>
                <a:latin typeface="Calibri"/>
              </a:defRPr>
            </a:pPr>
            <a:r>
              <a:t>no conoces? Autenticación,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40864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0" i="0">
                <a:solidFill>
                  <a:srgbClr val="2D3436"/>
                </a:solidFill>
                <a:latin typeface="Calibri"/>
              </a:defRPr>
            </a:pPr>
            <a:r>
              <a:t>autorización, sandboxing.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371600"/>
            <a:ext cx="53035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48132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Aft>
                <a:spcPts val="0"/>
              </a:spcAft>
              <a:defRPr sz="1800" b="1" i="0">
                <a:solidFill>
                  <a:srgbClr val="C0392B"/>
                </a:solidFill>
                <a:latin typeface="Calibri"/>
              </a:defRPr>
            </a:pPr>
            <a:r>
              <a:t>Observabilidad a escala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8288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0" i="0">
                <a:solidFill>
                  <a:srgbClr val="2D3436"/>
                </a:solidFill>
                <a:latin typeface="Calibri"/>
              </a:defRPr>
            </a:pPr>
            <a:r>
              <a:t>Con decenas de agentes, 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08483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0" i="0">
                <a:solidFill>
                  <a:srgbClr val="2D3436"/>
                </a:solidFill>
                <a:latin typeface="Calibri"/>
              </a:defRPr>
            </a:pPr>
            <a:r>
              <a:t>debugging se vuelve exponencial.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340864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0" i="0">
                <a:solidFill>
                  <a:srgbClr val="2D3436"/>
                </a:solidFill>
                <a:latin typeface="Calibri"/>
              </a:defRPr>
            </a:pPr>
            <a:r>
              <a:t>Tracing distribuido nativo.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40480"/>
            <a:ext cx="53035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95020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Aft>
                <a:spcPts val="0"/>
              </a:spcAft>
              <a:defRPr sz="1800" b="1" i="0">
                <a:solidFill>
                  <a:srgbClr val="C0392B"/>
                </a:solidFill>
                <a:latin typeface="Calibri"/>
              </a:defRPr>
            </a:pPr>
            <a:r>
              <a:t>Competencia con MCP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2976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0" i="0">
                <a:solidFill>
                  <a:srgbClr val="2D3436"/>
                </a:solidFill>
                <a:latin typeface="Calibri"/>
              </a:defRPr>
            </a:pPr>
            <a:r>
              <a:t>Model Context Protocol (Anthropic)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55371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0" i="0">
                <a:solidFill>
                  <a:srgbClr val="2D3436"/>
                </a:solidFill>
                <a:latin typeface="Calibri"/>
              </a:defRPr>
            </a:pPr>
            <a:r>
              <a:t>resuelve parte del problema.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809744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0" i="0">
                <a:solidFill>
                  <a:srgbClr val="2D3436"/>
                </a:solidFill>
                <a:latin typeface="Calibri"/>
              </a:defRPr>
            </a:pPr>
            <a:r>
              <a:t>¿Convivencia o guerra?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3840480"/>
            <a:ext cx="53035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395020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Aft>
                <a:spcPts val="0"/>
              </a:spcAft>
              <a:defRPr sz="1800" b="1" i="0">
                <a:solidFill>
                  <a:srgbClr val="27AE60"/>
                </a:solidFill>
                <a:latin typeface="Calibri"/>
              </a:defRPr>
            </a:pPr>
            <a:r>
              <a:t>Nuestra perspectiva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42976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0" i="0">
                <a:solidFill>
                  <a:srgbClr val="2D3436"/>
                </a:solidFill>
                <a:latin typeface="Calibri"/>
              </a:defRPr>
            </a:pPr>
            <a:r>
              <a:t>MCP conecta modelos con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55371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0" i="0">
                <a:solidFill>
                  <a:srgbClr val="2D3436"/>
                </a:solidFill>
                <a:latin typeface="Calibri"/>
              </a:defRPr>
            </a:pPr>
            <a:r>
              <a:t>herramientas. A2A conecta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809744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0" i="0">
                <a:solidFill>
                  <a:srgbClr val="2D3436"/>
                </a:solidFill>
                <a:latin typeface="Calibri"/>
              </a:defRPr>
            </a:pPr>
            <a:r>
              <a:t>agentes entre sí.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5065776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0" i="0">
                <a:solidFill>
                  <a:srgbClr val="2D3436"/>
                </a:solidFill>
                <a:latin typeface="Calibri"/>
              </a:defRPr>
            </a:pPr>
            <a:r>
              <a:t>Son complementarios.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60"/>
              </a:lnSpc>
              <a:spcAft>
                <a:spcPts val="0"/>
              </a:spcAft>
              <a:defRPr sz="3200" b="1" i="0">
                <a:solidFill>
                  <a:srgbClr val="1B4F72"/>
                </a:solidFill>
                <a:latin typeface="Calibri"/>
              </a:defRPr>
            </a:pPr>
            <a:r>
              <a:t>A2A + MCP = el stack completo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10"/>
              </a:lnSpc>
              <a:spcAft>
                <a:spcPts val="0"/>
              </a:spcAft>
              <a:defRPr sz="1700" b="0" i="0">
                <a:solidFill>
                  <a:srgbClr val="636E72"/>
                </a:solidFill>
                <a:latin typeface="Calibri"/>
              </a:defRPr>
            </a:pPr>
            <a:r>
              <a:t>No compiten — cada uno resuelve una capa distinta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1645920"/>
            <a:ext cx="2286000" cy="502920"/>
          </a:xfrm>
          <a:prstGeom prst="roundRect">
            <a:avLst/>
          </a:prstGeom>
          <a:solidFill>
            <a:srgbClr val="2C6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383280" y="1645920"/>
            <a:ext cx="3657600" cy="502920"/>
          </a:xfrm>
          <a:prstGeom prst="roundRect">
            <a:avLst/>
          </a:prstGeom>
          <a:solidFill>
            <a:srgbClr val="2C6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MCP (Anthropic)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0" y="1645920"/>
            <a:ext cx="3657600" cy="502920"/>
          </a:xfrm>
          <a:prstGeom prst="roundRect">
            <a:avLst/>
          </a:prstGeom>
          <a:solidFill>
            <a:srgbClr val="2C6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A2A (Google)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2194560"/>
            <a:ext cx="2286000" cy="502920"/>
          </a:xfrm>
          <a:prstGeom prst="roundRect">
            <a:avLst/>
          </a:prstGeom>
          <a:solidFill>
            <a:srgbClr val="FB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l">
              <a:defRPr sz="1400" b="1">
                <a:solidFill>
                  <a:srgbClr val="1B4F72"/>
                </a:solidFill>
                <a:latin typeface="Calibri"/>
              </a:defRPr>
            </a:pPr>
            <a:r>
              <a:t>Conecta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2194560"/>
            <a:ext cx="3657600" cy="502920"/>
          </a:xfrm>
          <a:prstGeom prst="roundRect">
            <a:avLst/>
          </a:prstGeom>
          <a:solidFill>
            <a:srgbClr val="FB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l">
              <a:defRPr sz="1400" b="0">
                <a:solidFill>
                  <a:srgbClr val="2D3436"/>
                </a:solidFill>
                <a:latin typeface="Calibri"/>
              </a:defRPr>
            </a:pPr>
            <a:r>
              <a:t>Modelo ↔ Herramientas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40880" y="2194560"/>
            <a:ext cx="3657600" cy="502920"/>
          </a:xfrm>
          <a:prstGeom prst="roundRect">
            <a:avLst/>
          </a:prstGeom>
          <a:solidFill>
            <a:srgbClr val="FB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l">
              <a:defRPr sz="1400" b="0">
                <a:solidFill>
                  <a:srgbClr val="2D3436"/>
                </a:solidFill>
                <a:latin typeface="Calibri"/>
              </a:defRPr>
            </a:pPr>
            <a:r>
              <a:t>Agente ↔ Agente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2743200"/>
            <a:ext cx="228600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l">
              <a:defRPr sz="1400" b="1">
                <a:solidFill>
                  <a:srgbClr val="1B4F72"/>
                </a:solidFill>
                <a:latin typeface="Calibri"/>
              </a:defRPr>
            </a:pPr>
            <a:r>
              <a:t>Analogía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2743200"/>
            <a:ext cx="365760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l">
              <a:defRPr sz="1400" b="0">
                <a:solidFill>
                  <a:srgbClr val="2D3436"/>
                </a:solidFill>
                <a:latin typeface="Calibri"/>
              </a:defRPr>
            </a:pPr>
            <a:r>
              <a:t>USB para un dispositivo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40880" y="2743200"/>
            <a:ext cx="365760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l">
              <a:defRPr sz="1400" b="0">
                <a:solidFill>
                  <a:srgbClr val="2D3436"/>
                </a:solidFill>
                <a:latin typeface="Calibri"/>
              </a:defRPr>
            </a:pPr>
            <a:r>
              <a:t>HTTP entre servidores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3291840"/>
            <a:ext cx="2286000" cy="502920"/>
          </a:xfrm>
          <a:prstGeom prst="roundRect">
            <a:avLst/>
          </a:prstGeom>
          <a:solidFill>
            <a:srgbClr val="FB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l">
              <a:defRPr sz="1400" b="1">
                <a:solidFill>
                  <a:srgbClr val="1B4F72"/>
                </a:solidFill>
                <a:latin typeface="Calibri"/>
              </a:defRPr>
            </a:pPr>
            <a:r>
              <a:t>Ejemplo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3291840"/>
            <a:ext cx="3657600" cy="502920"/>
          </a:xfrm>
          <a:prstGeom prst="roundRect">
            <a:avLst/>
          </a:prstGeom>
          <a:solidFill>
            <a:srgbClr val="FB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l">
              <a:defRPr sz="1400" b="0">
                <a:solidFill>
                  <a:srgbClr val="2D3436"/>
                </a:solidFill>
                <a:latin typeface="Calibri"/>
              </a:defRPr>
            </a:pPr>
            <a:r>
              <a:t>Agente accede a base de datos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40880" y="3291840"/>
            <a:ext cx="3657600" cy="502920"/>
          </a:xfrm>
          <a:prstGeom prst="roundRect">
            <a:avLst/>
          </a:prstGeom>
          <a:solidFill>
            <a:srgbClr val="FB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l">
              <a:defRPr sz="1400" b="0">
                <a:solidFill>
                  <a:srgbClr val="2D3436"/>
                </a:solidFill>
                <a:latin typeface="Calibri"/>
              </a:defRPr>
            </a:pPr>
            <a:r>
              <a:t>Dos agentes negocian un contrato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3840479"/>
            <a:ext cx="228600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l">
              <a:defRPr sz="1400" b="1">
                <a:solidFill>
                  <a:srgbClr val="1B4F72"/>
                </a:solidFill>
                <a:latin typeface="Calibri"/>
              </a:defRPr>
            </a:pPr>
            <a:r>
              <a:t>Scope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83280" y="3840479"/>
            <a:ext cx="365760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l">
              <a:defRPr sz="1400" b="0">
                <a:solidFill>
                  <a:srgbClr val="2D3436"/>
                </a:solidFill>
                <a:latin typeface="Calibri"/>
              </a:defRPr>
            </a:pPr>
            <a:r>
              <a:t>Dentro de un agente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40880" y="3840479"/>
            <a:ext cx="365760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l">
              <a:defRPr sz="1400" b="0">
                <a:solidFill>
                  <a:srgbClr val="2D3436"/>
                </a:solidFill>
                <a:latin typeface="Calibri"/>
              </a:defRPr>
            </a:pPr>
            <a:r>
              <a:t>Entre agentes independientes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86000" y="4754880"/>
            <a:ext cx="75895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60320" y="4892040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00"/>
              </a:lnSpc>
            </a:pPr>
            <a:r>
              <a:rPr sz="1700" b="0" i="0">
                <a:solidFill>
                  <a:srgbClr val="2D3436"/>
                </a:solidFill>
                <a:latin typeface="Calibri"/>
              </a:rPr>
              <a:t>En nuestro proyecto </a:t>
            </a:r>
            <a:r>
              <a:rPr sz="1700" b="1" i="0">
                <a:solidFill>
                  <a:srgbClr val="2C6F9B"/>
                </a:solidFill>
                <a:latin typeface="Calibri"/>
              </a:rPr>
              <a:t>usamos ambos</a:t>
            </a:r>
            <a:r>
              <a:rPr sz="1700" b="0" i="0">
                <a:solidFill>
                  <a:srgbClr val="2D3436"/>
                </a:solidFill>
                <a:latin typeface="Calibri"/>
              </a:rPr>
              <a:t>: MCP para que los agentes accedan a herramientas,
A2A para que se comuniquen entre ellos.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8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60"/>
              </a:lnSpc>
              <a:spcAft>
                <a:spcPts val="0"/>
              </a:spcAft>
              <a:defRPr sz="3200" b="1" i="0">
                <a:solidFill>
                  <a:srgbClr val="1B4F72"/>
                </a:solidFill>
                <a:latin typeface="Calibri"/>
              </a:defRPr>
            </a:pPr>
            <a:r>
              <a:t>Lo que hemos aprendido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347472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8132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Aft>
                <a:spcPts val="0"/>
              </a:spcAft>
              <a:defRPr sz="1800" b="1" i="0">
                <a:solidFill>
                  <a:srgbClr val="2C6F9B"/>
                </a:solidFill>
                <a:latin typeface="Calibri"/>
              </a:defRPr>
            </a:pPr>
            <a:r>
              <a:t>El consenso es difícil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0" i="0">
                <a:solidFill>
                  <a:srgbClr val="2D3436"/>
                </a:solidFill>
                <a:latin typeface="Calibri"/>
              </a:defRPr>
            </a:pPr>
            <a:r>
              <a:t>Los LLMs tienden 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8483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0" i="0">
                <a:solidFill>
                  <a:srgbClr val="2D3436"/>
                </a:solidFill>
                <a:latin typeface="Calibri"/>
              </a:defRPr>
            </a:pPr>
            <a:r>
              <a:t>"ambos tienen razón".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4086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0" i="0">
                <a:solidFill>
                  <a:srgbClr val="2D3436"/>
                </a:solidFill>
                <a:latin typeface="Calibri"/>
              </a:defRPr>
            </a:pPr>
            <a:r>
              <a:t>Forzar convergencia real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9689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0" i="0">
                <a:solidFill>
                  <a:srgbClr val="2D3436"/>
                </a:solidFill>
                <a:latin typeface="Calibri"/>
              </a:defRPr>
            </a:pPr>
            <a:r>
              <a:t>requiere prompt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5292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0" i="0">
                <a:solidFill>
                  <a:srgbClr val="2D3436"/>
                </a:solidFill>
                <a:latin typeface="Calibri"/>
              </a:defRPr>
            </a:pPr>
            <a:r>
              <a:t>agresivo.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47472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48132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Aft>
                <a:spcPts val="0"/>
              </a:spcAft>
              <a:defRPr sz="1800" b="1" i="0">
                <a:solidFill>
                  <a:srgbClr val="2C6F9B"/>
                </a:solidFill>
                <a:latin typeface="Calibri"/>
              </a:defRPr>
            </a:pPr>
            <a:r>
              <a:t>Rate limits everywhere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8288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0" i="0">
                <a:solidFill>
                  <a:srgbClr val="2D3436"/>
                </a:solidFill>
                <a:latin typeface="Calibri"/>
              </a:defRPr>
            </a:pPr>
            <a:r>
              <a:t>Con 4+ agentes en paralelo,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08483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0" i="0">
                <a:solidFill>
                  <a:srgbClr val="2D3436"/>
                </a:solidFill>
                <a:latin typeface="Calibri"/>
              </a:defRPr>
            </a:pPr>
            <a:r>
              <a:t>los TPM de los proveedores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34086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0" i="0">
                <a:solidFill>
                  <a:srgbClr val="2D3436"/>
                </a:solidFill>
                <a:latin typeface="Calibri"/>
              </a:defRPr>
            </a:pPr>
            <a:r>
              <a:t>se agotan rápido.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59689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0" i="0">
                <a:solidFill>
                  <a:srgbClr val="2D3436"/>
                </a:solidFill>
                <a:latin typeface="Calibri"/>
              </a:defRPr>
            </a:pPr>
            <a:r>
              <a:t>La diversidad de modelos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85292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0" i="0">
                <a:solidFill>
                  <a:srgbClr val="2D3436"/>
                </a:solidFill>
                <a:latin typeface="Calibri"/>
              </a:defRPr>
            </a:pPr>
            <a:r>
              <a:t>ayuda.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371600"/>
            <a:ext cx="347472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148132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Aft>
                <a:spcPts val="0"/>
              </a:spcAft>
              <a:defRPr sz="1800" b="1" i="0">
                <a:solidFill>
                  <a:srgbClr val="2C6F9B"/>
                </a:solidFill>
                <a:latin typeface="Calibri"/>
              </a:defRPr>
            </a:pPr>
            <a:r>
              <a:t>Métricas &gt; opinión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18288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0" i="0">
                <a:solidFill>
                  <a:srgbClr val="2D3436"/>
                </a:solidFill>
                <a:latin typeface="Calibri"/>
              </a:defRPr>
            </a:pPr>
            <a:r>
              <a:t>Medir consenso con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08483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0" i="0">
                <a:solidFill>
                  <a:srgbClr val="2D3436"/>
                </a:solidFill>
                <a:latin typeface="Calibri"/>
              </a:defRPr>
            </a:pPr>
            <a:r>
              <a:t>embeddings es más fiable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34086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0" i="0">
                <a:solidFill>
                  <a:srgbClr val="2D3436"/>
                </a:solidFill>
                <a:latin typeface="Calibri"/>
              </a:defRPr>
            </a:pPr>
            <a:r>
              <a:t>que pedirle al LLM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59689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0" i="0">
                <a:solidFill>
                  <a:srgbClr val="2D3436"/>
                </a:solidFill>
                <a:latin typeface="Calibri"/>
              </a:defRPr>
            </a:pPr>
            <a:r>
              <a:t>que se autoevalúe.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645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0" i="0">
                <a:solidFill>
                  <a:srgbClr val="636E72"/>
                </a:solidFill>
                <a:latin typeface="Calibri"/>
              </a:defRPr>
            </a:pPr>
            <a:r>
              <a:t>Y AHORA...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460"/>
              </a:lnSpc>
              <a:spcAft>
                <a:spcPts val="0"/>
              </a:spcAft>
              <a:defRPr sz="4200" b="1" i="0">
                <a:solidFill>
                  <a:srgbClr val="1B4F72"/>
                </a:solidFill>
                <a:latin typeface="Calibri"/>
              </a:defRPr>
            </a:pPr>
            <a:r>
              <a:t>¿Qué han decidido</a:t>
            </a:r>
            <a:br/>
            <a:r>
              <a:t>los agentes?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Aft>
                <a:spcPts val="0"/>
              </a:spcAft>
              <a:defRPr sz="2000" b="0" i="0">
                <a:solidFill>
                  <a:srgbClr val="2D3436"/>
                </a:solidFill>
                <a:latin typeface="Calibri"/>
              </a:defRPr>
            </a:pPr>
            <a:r>
              <a:t>Veamos el resultado del debate en vivo.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4F7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6760"/>
              </a:lnSpc>
              <a:spcAft>
                <a:spcPts val="0"/>
              </a:spcAft>
              <a:defRPr sz="5200" b="1" i="0">
                <a:solidFill>
                  <a:srgbClr val="F2E8D5"/>
                </a:solidFill>
                <a:latin typeface="Calibri"/>
              </a:defRPr>
            </a:pPr>
            <a:r>
              <a:t>Gracias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0" y="3200400"/>
            <a:ext cx="2926080" cy="411480"/>
          </a:xfrm>
          <a:prstGeom prst="roundRect">
            <a:avLst/>
          </a:prstGeom>
          <a:solidFill>
            <a:srgbClr val="E3D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>
              <a:defRPr sz="1200" b="1">
                <a:solidFill>
                  <a:srgbClr val="2D3436"/>
                </a:solidFill>
                <a:latin typeface="Calibri"/>
              </a:defRPr>
            </a:pPr>
            <a:r>
              <a:t>Agent-to-Agent Protocol v1.0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892040" y="3200400"/>
            <a:ext cx="2743200" cy="411480"/>
          </a:xfrm>
          <a:prstGeom prst="roundRect">
            <a:avLst/>
          </a:prstGeom>
          <a:solidFill>
            <a:srgbClr val="255E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>
              <a:defRPr sz="1200" b="1">
                <a:solidFill>
                  <a:srgbClr val="F2E8D5"/>
                </a:solidFill>
                <a:latin typeface="Calibri"/>
              </a:defRPr>
            </a:pPr>
            <a:r>
              <a:t>Multi-Agent Deliberation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0" y="3200400"/>
            <a:ext cx="2743200" cy="411480"/>
          </a:xfrm>
          <a:prstGeom prst="roundRect">
            <a:avLst/>
          </a:prstGeom>
          <a:solidFill>
            <a:srgbClr val="E3D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>
              <a:defRPr sz="1200" b="1">
                <a:solidFill>
                  <a:srgbClr val="2D3436"/>
                </a:solidFill>
                <a:latin typeface="Calibri"/>
              </a:defRPr>
            </a:pPr>
            <a:r>
              <a:t>Dynamic Agent Discovery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60"/>
              </a:lnSpc>
              <a:spcAft>
                <a:spcPts val="0"/>
              </a:spcAft>
              <a:defRPr sz="2200" b="0" i="0">
                <a:solidFill>
                  <a:srgbClr val="B8D8EA"/>
                </a:solidFill>
                <a:latin typeface="Calibri"/>
              </a:defRPr>
            </a:pPr>
            <a:r>
              <a:t>¿Preguntas?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486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90"/>
              </a:lnSpc>
              <a:spcAft>
                <a:spcPts val="0"/>
              </a:spcAft>
              <a:defRPr sz="1300" b="0" i="0">
                <a:solidFill>
                  <a:srgbClr val="7BAFCF"/>
                </a:solidFill>
                <a:latin typeface="Calibri"/>
              </a:defRPr>
            </a:pPr>
            <a:r>
              <a:t>Irina Regueiro  ·  UPC  · 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